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455" r:id="rId3"/>
    <p:sldId id="474" r:id="rId4"/>
    <p:sldId id="471" r:id="rId5"/>
    <p:sldId id="467" r:id="rId6"/>
    <p:sldId id="446" r:id="rId7"/>
    <p:sldId id="469" r:id="rId8"/>
    <p:sldId id="476" r:id="rId9"/>
    <p:sldId id="472" r:id="rId10"/>
    <p:sldId id="415" r:id="rId11"/>
    <p:sldId id="477" r:id="rId12"/>
    <p:sldId id="470" r:id="rId13"/>
    <p:sldId id="478" r:id="rId14"/>
  </p:sldIdLst>
  <p:sldSz cx="18288000" cy="10287000"/>
  <p:notesSz cx="6858000" cy="9144000"/>
  <p:embeddedFontLst>
    <p:embeddedFont>
      <p:font typeface="Consolas" panose="020B0609020204030204" pitchFamily="49"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8463" autoAdjust="0"/>
  </p:normalViewPr>
  <p:slideViewPr>
    <p:cSldViewPr>
      <p:cViewPr varScale="1">
        <p:scale>
          <a:sx n="33" d="100"/>
          <a:sy n="33" d="100"/>
        </p:scale>
        <p:origin x="779"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what an automated AI workflow looks like — a sequence of predefined steps that move from a trigger to a final output. You can think of it as a chain reaction: something starts the process, different actions happen automatically, and along the way, AI steps in to add intelligence or decision-making.</a:t>
            </a:r>
          </a:p>
          <a:p>
            <a:r>
              <a:rPr lang="en-US" dirty="0"/>
              <a:t>It all begins with a </a:t>
            </a:r>
            <a:r>
              <a:rPr lang="en-US" b="1" dirty="0"/>
              <a:t>trigger</a:t>
            </a:r>
            <a:r>
              <a:rPr lang="en-US" dirty="0"/>
              <a:t> — something that tells the workflow to start. In Excel or Power Automate, that could be a new row added to a table, a file uploaded to OneDrive, or even a scheduled time like “every Monday morning.” The trigger is what kicks everything off without you having to manually do anything.</a:t>
            </a:r>
          </a:p>
          <a:p>
            <a:r>
              <a:rPr lang="en-US" dirty="0"/>
              <a:t>Then we have </a:t>
            </a:r>
            <a:r>
              <a:rPr lang="en-US" b="1" dirty="0"/>
              <a:t>Step 1</a:t>
            </a:r>
            <a:r>
              <a:rPr lang="en-US" dirty="0"/>
              <a:t>, which is often a preparation step. Maybe it’s collecting the data, formatting it, or sending it into Excel. This could be where Power Automate connects to a SharePoint list, a form submission, or a Teams message and feeds that data into your workbook.</a:t>
            </a:r>
          </a:p>
          <a:p>
            <a:r>
              <a:rPr lang="en-US" dirty="0"/>
              <a:t>Next comes the </a:t>
            </a:r>
            <a:r>
              <a:rPr lang="en-US" b="1" dirty="0"/>
              <a:t>AI Step</a:t>
            </a:r>
            <a:r>
              <a:rPr lang="en-US" dirty="0"/>
              <a:t> — this is where Copilot or another AI model gets involved. This could be an AI Builder action inside Power Automate that summarizes text, classifies feedback, or extracts key details from a document. Or it might be Copilot inside Excel generating a formula, building a chart, or explaining data patterns automatically. The AI step takes what used to be manual analysis and turns it into an automated, intelligent action.</a:t>
            </a:r>
          </a:p>
          <a:p>
            <a:r>
              <a:rPr lang="en-US" dirty="0"/>
              <a:t>After that, there can be more steps — maybe sending results back to Excel, notifying someone in Teams, or updating a dashboard. Each step builds on the last, flowing seamlessly without human intervention.</a:t>
            </a:r>
          </a:p>
          <a:p>
            <a:r>
              <a:rPr lang="en-US" dirty="0"/>
              <a:t>Finally, we reach the </a:t>
            </a:r>
            <a:r>
              <a:rPr lang="en-US" b="1" dirty="0"/>
              <a:t>output</a:t>
            </a:r>
            <a:r>
              <a:rPr lang="en-US" dirty="0"/>
              <a:t>, which is the end goal of the automation. That might be a refreshed Excel report, an email summary, or a new dataset ready for review. The beauty of it is that the whole process runs automatically once it’s designed — no constant copying, pasting, or checking formulas.</a:t>
            </a:r>
          </a:p>
          <a:p>
            <a:r>
              <a:rPr lang="en-US" dirty="0"/>
              <a:t>So, in short, this kind of workflow connects automation tools like Power Automate with AI capabilities from Copilot or AI Builder to take everyday Excel tasks — things like reporting, data cleaning, or summarizing — and turn them into intelligent, repeatable processes.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core idea behind an agentic workflow. Everything starts with a trigger. That could be a scheduled time, a user action, an event in another system, or even a message. Once the trigger fires, control passes to the AI </a:t>
            </a:r>
            <a:r>
              <a:rPr lang="en-US" dirty="0" err="1"/>
              <a:t>agent.The</a:t>
            </a:r>
            <a:r>
              <a:rPr lang="en-US" dirty="0"/>
              <a:t> agent’s job is to figure out the steps needed to reach the goal. And the important part is that the agent isn’t just following a script. It can draw on three things: the instructions you gave it, the memory it has access to, and the tools it’s allowed to use. Those might include connectors, APIs, retrieval sources, or actions in Power </a:t>
            </a:r>
            <a:r>
              <a:rPr lang="en-US" dirty="0" err="1"/>
              <a:t>Automate.From</a:t>
            </a:r>
            <a:r>
              <a:rPr lang="en-US" dirty="0"/>
              <a:t> there, the agent decides which actions to take and in what order. It keeps adjusting based on the context it sees, and it keeps working until it produces an output. That output might be a document, a dataset, a message, an update in a system, or something else </a:t>
            </a:r>
            <a:r>
              <a:rPr lang="en-US" dirty="0" err="1"/>
              <a:t>entirely.So</a:t>
            </a:r>
            <a:r>
              <a:rPr lang="en-US" dirty="0"/>
              <a:t> even though we’re building this in Copilot Studio, the workflow here is very agent-like. It’s not just a single prompt. It’s a goal-directed system that figures out the how on its own.</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D0BB0-C27F-4394-84BC-879603FE7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3BEAE-D2CD-A88A-3703-056E92BB0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8528-51B2-8AAF-A9AB-FE9AD8BC6069}"/>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F2683C92-7067-3C07-DF64-C45CF1BBC349}"/>
              </a:ext>
            </a:extLst>
          </p:cNvPr>
          <p:cNvSpPr>
            <a:spLocks noGrp="1"/>
          </p:cNvSpPr>
          <p:nvPr>
            <p:ph type="sldNum" sz="quarter" idx="5"/>
          </p:nvPr>
        </p:nvSpPr>
        <p:spPr/>
        <p:txBody>
          <a:bodyPr/>
          <a:lstStyle/>
          <a:p>
            <a:fld id="{1300335D-9F13-4B80-ADC5-B0EA3E10FF6B}" type="slidenum">
              <a:rPr lang="en-US" smtClean="0"/>
              <a:t>8</a:t>
            </a:fld>
            <a:endParaRPr lang="en-US"/>
          </a:p>
        </p:txBody>
      </p:sp>
    </p:spTree>
    <p:extLst>
      <p:ext uri="{BB962C8B-B14F-4D97-AF65-F5344CB8AC3E}">
        <p14:creationId xmlns:p14="http://schemas.microsoft.com/office/powerpoint/2010/main" val="20485443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will be a line item in there if you want something BESIDES Modern Analytics in Excel book </a:t>
            </a:r>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2469301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stringfestanalytics.com/how-to-understand-the-modern-excel-ai-stack/" TargetMode="External"/><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5: Copilot Studio – The Orchestration Layer</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files used and communication will be on Teams channel</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 sure to use your email used to sign up for the course!</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me with 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Recap of Day 4</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Copilot for formulas, charts, and insights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Python for analysis and forecasting</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Agent Mode for multi step tasks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Excel is now an intelligent workspace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But so what: how do you get data in, get results out, and connect it all?</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
        <p:nvSpPr>
          <p:cNvPr id="2" name="Rectangle 1">
            <a:extLst>
              <a:ext uri="{FF2B5EF4-FFF2-40B4-BE49-F238E27FC236}">
                <a16:creationId xmlns:a16="http://schemas.microsoft.com/office/drawing/2014/main" id="{2A65A1F1-433D-842C-ED33-95F0AF974DBB}"/>
              </a:ext>
            </a:extLst>
          </p:cNvPr>
          <p:cNvSpPr/>
          <p:nvPr/>
        </p:nvSpPr>
        <p:spPr>
          <a:xfrm>
            <a:off x="8991600" y="2062908"/>
            <a:ext cx="8610600" cy="15240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151638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Copilot Studio  + Agent Flows</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150876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F59BA-0C2F-2749-8CB4-7E6DE87436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454C4F1-8816-5B7C-5A36-487DF1D2DC2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FD33BFB-92A5-B8BE-BE2A-90100EC88BE0}"/>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B60F8A7-E120-24F7-0163-56AAE5565745}"/>
              </a:ext>
            </a:extLst>
          </p:cNvPr>
          <p:cNvSpPr txBox="1"/>
          <p:nvPr/>
        </p:nvSpPr>
        <p:spPr>
          <a:xfrm>
            <a:off x="260431" y="329879"/>
            <a:ext cx="8906720" cy="10315644"/>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Building and deploying an AI-powered workflow</a:t>
            </a:r>
          </a:p>
          <a:p>
            <a:pPr marL="142875">
              <a:lnSpc>
                <a:spcPct val="115000"/>
              </a:lnSpc>
              <a:spcBef>
                <a:spcPts val="1125"/>
              </a:spcBef>
              <a:buClr>
                <a:srgbClr val="C00000"/>
              </a:buClr>
              <a:buSzPts val="2100"/>
            </a:pPr>
            <a:r>
              <a:rPr lang="en-US" sz="4000" dirty="0">
                <a:solidFill>
                  <a:srgbClr val="CF3338"/>
                </a:solidFill>
                <a:latin typeface="Pragmatica" panose="020B0403040502020204" pitchFamily="34" charset="0"/>
                <a:sym typeface="Consolas"/>
              </a:rPr>
              <a:t>Dataset: autompg.xlsx</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Load Excel data into Dataverse</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Create a flow in Power Automate</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Run AI prompt as part of the flow</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Switch prompt to structured JSON output</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Build and map an Adaptive Card for Teams</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Run the flow and review the generated report</a:t>
            </a:r>
          </a:p>
        </p:txBody>
      </p:sp>
    </p:spTree>
    <p:extLst>
      <p:ext uri="{BB962C8B-B14F-4D97-AF65-F5344CB8AC3E}">
        <p14:creationId xmlns:p14="http://schemas.microsoft.com/office/powerpoint/2010/main" val="4221522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7E3AC-4FA3-83DA-F79F-26551AD8550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FF83F61-9347-B3FC-96FC-70DF3E10AC66}"/>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7A23AEB3-4E11-C3D4-E894-27B00448C33C}"/>
              </a:ext>
            </a:extLst>
          </p:cNvPr>
          <p:cNvSpPr txBox="1"/>
          <p:nvPr/>
        </p:nvSpPr>
        <p:spPr>
          <a:xfrm>
            <a:off x="520860" y="2095500"/>
            <a:ext cx="16166939" cy="600164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Turn everything from Days 1–4 into a working AI assistant</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copilots that run multi-step workflows across Excel + Teams +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Package your scripts and flows into reusable actions anyone can trigger</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Use agents to create always-on automations that monitor and respond</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Shift from AI giving answers to AI getting work done for you</a:t>
            </a:r>
          </a:p>
        </p:txBody>
      </p:sp>
      <p:pic>
        <p:nvPicPr>
          <p:cNvPr id="15" name="Picture 14" descr="A close up of a sign&#10;&#10;Description automatically generated">
            <a:extLst>
              <a:ext uri="{FF2B5EF4-FFF2-40B4-BE49-F238E27FC236}">
                <a16:creationId xmlns:a16="http://schemas.microsoft.com/office/drawing/2014/main" id="{96DC29E9-117A-CF3F-ECBD-08964AD5B8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33379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49C3F-5040-BA01-F8D3-F896C6F0B17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62B530A-591E-806F-0352-EB7EA3AEBDE7}"/>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Final course logistics</a:t>
            </a:r>
          </a:p>
        </p:txBody>
      </p:sp>
      <p:sp>
        <p:nvSpPr>
          <p:cNvPr id="3" name="TextBox 2">
            <a:extLst>
              <a:ext uri="{FF2B5EF4-FFF2-40B4-BE49-F238E27FC236}">
                <a16:creationId xmlns:a16="http://schemas.microsoft.com/office/drawing/2014/main" id="{8CE8E8FC-C375-AEF9-5E67-73AB8EE914A6}"/>
              </a:ext>
            </a:extLst>
          </p:cNvPr>
          <p:cNvSpPr txBox="1"/>
          <p:nvPr/>
        </p:nvSpPr>
        <p:spPr>
          <a:xfrm>
            <a:off x="520861" y="2095500"/>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course recordings will stay up for at least 60 days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I will keep the Teams group up for at least 60 days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Please fill out the form I will send to claim your </a:t>
            </a:r>
            <a:r>
              <a:rPr lang="en-US" sz="5400" dirty="0" err="1">
                <a:solidFill>
                  <a:srgbClr val="707070"/>
                </a:solidFill>
                <a:latin typeface="Pragmatica" panose="020B0403040502020204" pitchFamily="34" charset="0"/>
              </a:rPr>
              <a:t>ebook</a:t>
            </a:r>
            <a:r>
              <a:rPr lang="en-US" sz="5400" dirty="0">
                <a:solidFill>
                  <a:srgbClr val="707070"/>
                </a:solidFill>
                <a:latin typeface="Pragmatica" panose="020B0403040502020204" pitchFamily="34" charset="0"/>
              </a:rPr>
              <a:t> and certificate</a:t>
            </a:r>
          </a:p>
        </p:txBody>
      </p:sp>
      <p:pic>
        <p:nvPicPr>
          <p:cNvPr id="15" name="Picture 14" descr="A close up of a sign&#10;&#10;Description automatically generated">
            <a:extLst>
              <a:ext uri="{FF2B5EF4-FFF2-40B4-BE49-F238E27FC236}">
                <a16:creationId xmlns:a16="http://schemas.microsoft.com/office/drawing/2014/main" id="{A4743D2B-5084-7DA3-6ADB-C069DD04FD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190121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90379-2376-B4EF-4A80-8E32B6C1A08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CBC6D55-DBAB-8A58-187F-343C57D3C18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021A1D46-70AC-C257-610E-EFDED00369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307AC19C-6B59-4EEF-2FE8-91A2A63A883F}"/>
              </a:ext>
            </a:extLst>
          </p:cNvPr>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a:p>
            <a:endParaRPr lang="en-US" sz="5400" b="1" dirty="0">
              <a:solidFill>
                <a:srgbClr val="CF3338"/>
              </a:solidFill>
              <a:latin typeface="Pragmatica" panose="020B0403040502020204" pitchFamily="34" charset="0"/>
            </a:endParaRPr>
          </a:p>
          <a:p>
            <a:r>
              <a:rPr lang="en-US" sz="5400" b="1" dirty="0">
                <a:solidFill>
                  <a:srgbClr val="CF3338"/>
                </a:solidFill>
                <a:latin typeface="Pragmatica" panose="020B0403040502020204" pitchFamily="34" charset="0"/>
              </a:rPr>
              <a:t>SERIOUSLY, THANK YOU! </a:t>
            </a:r>
          </a:p>
        </p:txBody>
      </p:sp>
      <p:sp>
        <p:nvSpPr>
          <p:cNvPr id="2" name="AutoShape 2" descr="Home | Full Stack Modeller">
            <a:extLst>
              <a:ext uri="{FF2B5EF4-FFF2-40B4-BE49-F238E27FC236}">
                <a16:creationId xmlns:a16="http://schemas.microsoft.com/office/drawing/2014/main" id="{408ABF3D-3BDA-C0D9-42AA-298C61D702B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3047057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3921</TotalTime>
  <Words>1044</Words>
  <Application>Microsoft Office PowerPoint</Application>
  <PresentationFormat>Custom</PresentationFormat>
  <Paragraphs>67</Paragraphs>
  <Slides>13</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Consolas</vt:lpstr>
      <vt:lpstr>Pragmatica</vt:lpstr>
      <vt:lpstr>Aliens &amp; cows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238</cp:revision>
  <dcterms:created xsi:type="dcterms:W3CDTF">2006-08-16T00:00:00Z</dcterms:created>
  <dcterms:modified xsi:type="dcterms:W3CDTF">2025-11-21T17:13:56Z</dcterms:modified>
  <dc:identifier>DADurESpNu8</dc:identifier>
</cp:coreProperties>
</file>