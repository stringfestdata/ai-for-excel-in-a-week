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455" r:id="rId3"/>
    <p:sldId id="471" r:id="rId4"/>
    <p:sldId id="439" r:id="rId5"/>
    <p:sldId id="428" r:id="rId6"/>
    <p:sldId id="440" r:id="rId7"/>
    <p:sldId id="441" r:id="rId8"/>
    <p:sldId id="474" r:id="rId9"/>
    <p:sldId id="473" r:id="rId10"/>
    <p:sldId id="415" r:id="rId11"/>
    <p:sldId id="470" r:id="rId12"/>
  </p:sldIdLst>
  <p:sldSz cx="18288000" cy="10287000"/>
  <p:notesSz cx="6858000" cy="9144000"/>
  <p:embeddedFontLst>
    <p:embeddedFont>
      <p:font typeface="Consolas" panose="020B0609020204030204" pitchFamily="49" charset="0"/>
      <p:regular r:id="rId14"/>
      <p:bold r:id="rId15"/>
      <p:italic r:id="rId16"/>
      <p:boldItalic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684158-E8C8-9BE0-21EB-718D906F94A5}" name="George Mount" initials="GM" userId="S::george@stringfestanalytics.com::22d0b802-afc6-4b8f-ba57-7a855d9692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eorge Mount" initials="GM" lastIdx="9" clrIdx="0">
    <p:extLst>
      <p:ext uri="{19B8F6BF-5375-455C-9EA6-DF929625EA0E}">
        <p15:presenceInfo xmlns:p15="http://schemas.microsoft.com/office/powerpoint/2012/main" userId="57d2ab2a84d54c8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F3338"/>
    <a:srgbClr val="3D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FE45DF-55D5-405D-A565-885B46CD6B1C}" v="18" dt="2025-10-20T17:24:06.950"/>
    <p1510:client id="{FF0EED0B-C5B4-4142-B053-6337C3D566F0}" v="5" dt="2025-10-20T16:58:00.7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2" autoAdjust="0"/>
    <p:restoredTop sz="78463" autoAdjust="0"/>
  </p:normalViewPr>
  <p:slideViewPr>
    <p:cSldViewPr>
      <p:cViewPr varScale="1">
        <p:scale>
          <a:sx n="43" d="100"/>
          <a:sy n="43" d="100"/>
        </p:scale>
        <p:origin x="259" y="448"/>
      </p:cViewPr>
      <p:guideLst>
        <p:guide orient="horz" pos="2160"/>
        <p:guide pos="2880"/>
      </p:guideLst>
    </p:cSldViewPr>
  </p:slideViewPr>
  <p:outlineViewPr>
    <p:cViewPr>
      <p:scale>
        <a:sx n="33" d="100"/>
        <a:sy n="33" d="100"/>
      </p:scale>
      <p:origin x="0" y="0"/>
    </p:cViewPr>
  </p:outlin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font" Target="fonts/font2.fntdata"/><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A98A70-FA8C-4354-959C-C70678AC9BCF}" type="datetimeFigureOut">
              <a:rPr lang="en-US" smtClean="0"/>
              <a:t>11/19/2025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B500C5-13F7-48FC-8160-C29AECF6C602}" type="slidenum">
              <a:rPr lang="en-US" smtClean="0"/>
              <a:t>‹#›</a:t>
            </a:fld>
            <a:endParaRPr lang="en-US"/>
          </a:p>
        </p:txBody>
      </p:sp>
    </p:spTree>
    <p:extLst>
      <p:ext uri="{BB962C8B-B14F-4D97-AF65-F5344CB8AC3E}">
        <p14:creationId xmlns:p14="http://schemas.microsoft.com/office/powerpoint/2010/main" val="3018350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the spectrum of AI tools based on two dimensions: how deeply they’re integrated into your workflow, and how much they can automate on their own.</a:t>
            </a:r>
          </a:p>
          <a:p>
            <a:endParaRPr lang="en-US" dirty="0"/>
          </a:p>
          <a:p>
            <a:r>
              <a:rPr lang="en-US" dirty="0"/>
              <a:t>In the bottom left, we have </a:t>
            </a:r>
            <a:r>
              <a:rPr lang="en-US" b="1" dirty="0"/>
              <a:t>Assistants</a:t>
            </a:r>
            <a:r>
              <a:rPr lang="en-US" dirty="0"/>
              <a:t> like ChatGPT or Bard. These tools are conversational and flexible, but they exist outside your main work environment. They can generate ideas, write text, or help explain concepts, but you have to feed them the context yourself. They don’t automatically connect to your files or data.</a:t>
            </a:r>
          </a:p>
          <a:p>
            <a:endParaRPr lang="en-US" dirty="0"/>
          </a:p>
          <a:p>
            <a:r>
              <a:rPr lang="en-US" dirty="0"/>
              <a:t>Moving up to the top left are </a:t>
            </a:r>
            <a:r>
              <a:rPr lang="en-US" b="1" dirty="0"/>
              <a:t>Copilots</a:t>
            </a:r>
            <a:r>
              <a:rPr lang="en-US" dirty="0"/>
              <a:t>, like Microsoft Copilot in Excel. These tools are highly integrated into your daily work tools. Copilot in Excel knows your workbook, formulas, and tables. It can help you analyze data, write formulas, and generate summaries—all inside Excel. But it’s still assistive, not autonomous. You’re in control, and it only acts when you prompt it.</a:t>
            </a:r>
          </a:p>
          <a:p>
            <a:r>
              <a:rPr lang="en-US" dirty="0"/>
              <a:t>On the bottom right are </a:t>
            </a:r>
            <a:r>
              <a:rPr lang="en-US" b="1" dirty="0"/>
              <a:t>Autopilots</a:t>
            </a:r>
            <a:r>
              <a:rPr lang="en-US" dirty="0"/>
              <a:t>, which handle repetitive processes automatically but without much awareness of your data. These might include automated social media posting or simple scheduled tasks. They act independently but lack real integration with your work context.</a:t>
            </a:r>
          </a:p>
          <a:p>
            <a:endParaRPr lang="en-US" dirty="0"/>
          </a:p>
          <a:p>
            <a:r>
              <a:rPr lang="en-US" dirty="0"/>
              <a:t>Finally, in the top right are </a:t>
            </a:r>
            <a:r>
              <a:rPr lang="en-US" b="1" dirty="0"/>
              <a:t>Agents</a:t>
            </a:r>
            <a:r>
              <a:rPr lang="en-US" dirty="0"/>
              <a:t>. These combine deep integration with high automation. Agents can understand your business data and act proactively—like automatically generating reports, summarizing meetings, or triggering workflows across apps.</a:t>
            </a:r>
          </a:p>
          <a:p>
            <a:endParaRPr lang="en-US" dirty="0"/>
          </a:p>
          <a:p>
            <a:r>
              <a:rPr lang="en-US" b="1" dirty="0"/>
              <a:t>Copilot in Excel</a:t>
            </a:r>
            <a:r>
              <a:rPr lang="en-US" dirty="0"/>
              <a:t> sits in the “Copilot” quadrant—it’s deeply embedded in your tools but still relies on you to guide it. </a:t>
            </a:r>
            <a:r>
              <a:rPr lang="en-US" b="1" dirty="0"/>
              <a:t>Agent Mode</a:t>
            </a:r>
            <a:r>
              <a:rPr lang="en-US" dirty="0"/>
              <a:t> is what happens when that same intelligence gains the ability to take initiative. It builds on Copilot’s understanding of your data but can connect across multiple apps and act without waiting for your command.</a:t>
            </a:r>
          </a:p>
          <a:p>
            <a:endParaRPr lang="en-US" dirty="0"/>
          </a:p>
          <a:p>
            <a:r>
              <a:rPr lang="en-US" dirty="0"/>
              <a:t>In short, Copilot helps you do the work; Agent Mode will start doing the work for you.</a:t>
            </a:r>
          </a:p>
          <a:p>
            <a:endParaRPr lang="en-US" dirty="0"/>
          </a:p>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4</a:t>
            </a:fld>
            <a:endParaRPr lang="en-US"/>
          </a:p>
        </p:txBody>
      </p:sp>
    </p:spTree>
    <p:extLst>
      <p:ext uri="{BB962C8B-B14F-4D97-AF65-F5344CB8AC3E}">
        <p14:creationId xmlns:p14="http://schemas.microsoft.com/office/powerpoint/2010/main" val="8281315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1300335D-9F13-4B80-ADC5-B0EA3E10FF6B}" type="slidenum">
              <a:rPr lang="en-US" smtClean="0"/>
              <a:t>5</a:t>
            </a:fld>
            <a:endParaRPr lang="en-US"/>
          </a:p>
        </p:txBody>
      </p:sp>
    </p:spTree>
    <p:extLst>
      <p:ext uri="{BB962C8B-B14F-4D97-AF65-F5344CB8AC3E}">
        <p14:creationId xmlns:p14="http://schemas.microsoft.com/office/powerpoint/2010/main" val="38643298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dirty="0"/>
              <a:t>When people hear Copilot and Agent Mode, they often assume they are the same thing, but they represent very different stages in how AI works inside Excel.</a:t>
            </a:r>
          </a:p>
          <a:p>
            <a:endParaRPr lang="en-US" sz="900" dirty="0"/>
          </a:p>
          <a:p>
            <a:r>
              <a:rPr lang="en-US" sz="900" dirty="0"/>
              <a:t>Copilot is what most of us have used so far. It is a great assistant when you need to generate a formula, summarize some data, or clean up a quick report. You ask it a question, it gives an answer, and then it is up to you to decide what to do next. It is reactive. It waits for your prompt each time.</a:t>
            </a:r>
          </a:p>
          <a:p>
            <a:endParaRPr lang="en-US" sz="900" dirty="0"/>
          </a:p>
          <a:p>
            <a:r>
              <a:rPr lang="en-US" sz="900" dirty="0"/>
              <a:t>Agent Mode takes this a step further. Instead of a single prompt and response, the agent can plan, execute, and evaluate multiple steps on its own. It does not just answer you, it actually works with you, refining its approach until it gets the result right. Think of it as the difference between giving someone an instruction versus giving them a project.</a:t>
            </a:r>
          </a:p>
          <a:p>
            <a:endParaRPr lang="en-US" sz="900" dirty="0"/>
          </a:p>
          <a:p>
            <a:r>
              <a:rPr lang="en-US" sz="900" dirty="0"/>
              <a:t>That also changes your role as the analyst. With Copilot, you are still the one doing the work, just faster. With Agent Mode, you become more of a manager or reviewer, someone who guides, oversees, and checks the agent’s work. The focus shifts from “Can I get this formula right?” to “Can I structure and verify the workflow my agent is running?”</a:t>
            </a:r>
          </a:p>
          <a:p>
            <a:endParaRPr lang="en-US" sz="900" dirty="0"/>
          </a:p>
          <a:p>
            <a:r>
              <a:rPr lang="en-US" sz="900" dirty="0"/>
              <a:t>In terms of output, Copilot is great for speed. You will get something usable right away. Agent Mode is built for reliability. It double checks itself, validates formulas, and produces outputs that are more auditable and refreshable. That is what makes it better suited for more complex or higher stakes workflows like financial models, reconciliations, or recurring dashboards.</a:t>
            </a:r>
          </a:p>
          <a:p>
            <a:endParaRPr lang="en-US" sz="900" dirty="0"/>
          </a:p>
          <a:p>
            <a:r>
              <a:rPr lang="en-US" sz="900" dirty="0"/>
              <a:t>So the short version is: Copilot accelerates your work. Agent Mode begins to do the work. The real opportunity for Excel professionals is learning how to manage and guide these new digital teammates effectively.</a:t>
            </a:r>
          </a:p>
        </p:txBody>
      </p:sp>
      <p:sp>
        <p:nvSpPr>
          <p:cNvPr id="4" name="Slide Number Placeholder 3"/>
          <p:cNvSpPr>
            <a:spLocks noGrp="1"/>
          </p:cNvSpPr>
          <p:nvPr>
            <p:ph type="sldNum" sz="quarter" idx="5"/>
          </p:nvPr>
        </p:nvSpPr>
        <p:spPr/>
        <p:txBody>
          <a:bodyPr/>
          <a:lstStyle/>
          <a:p>
            <a:fld id="{FFB500C5-13F7-48FC-8160-C29AECF6C602}" type="slidenum">
              <a:rPr lang="en-US" smtClean="0"/>
              <a:t>6</a:t>
            </a:fld>
            <a:endParaRPr lang="en-US"/>
          </a:p>
        </p:txBody>
      </p:sp>
    </p:spTree>
    <p:extLst>
      <p:ext uri="{BB962C8B-B14F-4D97-AF65-F5344CB8AC3E}">
        <p14:creationId xmlns:p14="http://schemas.microsoft.com/office/powerpoint/2010/main" val="2986116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1300335D-9F13-4B80-ADC5-B0EA3E10FF6B}" type="slidenum">
              <a:rPr lang="en-US" smtClean="0"/>
              <a:t>7</a:t>
            </a:fld>
            <a:endParaRPr lang="en-US"/>
          </a:p>
        </p:txBody>
      </p:sp>
    </p:spTree>
    <p:extLst>
      <p:ext uri="{BB962C8B-B14F-4D97-AF65-F5344CB8AC3E}">
        <p14:creationId xmlns:p14="http://schemas.microsoft.com/office/powerpoint/2010/main" val="624549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stringfestanalytics.com/how-to-understand-the-modern-excel-ai-stack/" TargetMode="External"/><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hyperlink" Target="https://blog.tobiaszwingmann.com/p/integration-automation-ai-framewor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p:cNvSpPr txBox="1"/>
          <p:nvPr/>
        </p:nvSpPr>
        <p:spPr>
          <a:xfrm>
            <a:off x="486137" y="2531318"/>
            <a:ext cx="11979797" cy="2585323"/>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AI for Excel in a Week</a:t>
            </a:r>
          </a:p>
          <a:p>
            <a:r>
              <a:rPr lang="en-US" sz="5400" b="1" dirty="0">
                <a:solidFill>
                  <a:srgbClr val="CF3338"/>
                </a:solidFill>
                <a:latin typeface="Pragmatica" panose="020B0403040502020204" pitchFamily="34" charset="0"/>
              </a:rPr>
              <a:t>Day 3: The Excel Intelligence Layer – Copilot, Python, Agent Mode</a:t>
            </a:r>
          </a:p>
        </p:txBody>
      </p:sp>
      <p:sp>
        <p:nvSpPr>
          <p:cNvPr id="2" name="AutoShape 2" descr="Home | Full Stack Modeller">
            <a:extLst>
              <a:ext uri="{FF2B5EF4-FFF2-40B4-BE49-F238E27FC236}">
                <a16:creationId xmlns:a16="http://schemas.microsoft.com/office/drawing/2014/main" id="{6CCAA77C-4E76-640C-066C-F3E39EE1AC9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5659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6697A-2DDC-AD06-0D5F-524946CCFA3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E25D70B-1F78-7AF8-4771-7B64B436CB0F}"/>
              </a:ext>
            </a:extLst>
          </p:cNvPr>
          <p:cNvSpPr txBox="1"/>
          <p:nvPr/>
        </p:nvSpPr>
        <p:spPr>
          <a:xfrm>
            <a:off x="520861" y="170082"/>
            <a:ext cx="14642939" cy="1477328"/>
          </a:xfrm>
          <a:prstGeom prst="rect">
            <a:avLst/>
          </a:prstGeom>
          <a:noFill/>
        </p:spPr>
        <p:txBody>
          <a:bodyPr wrap="square" rtlCol="0">
            <a:spAutoFit/>
          </a:bodyPr>
          <a:lstStyle/>
          <a:p>
            <a:r>
              <a:rPr lang="en-US" sz="9000" dirty="0">
                <a:latin typeface="Aliens &amp; cows" panose="00000500000000000000" pitchFamily="2" charset="0"/>
              </a:rPr>
              <a:t>Class logistics</a:t>
            </a:r>
          </a:p>
        </p:txBody>
      </p:sp>
      <p:sp>
        <p:nvSpPr>
          <p:cNvPr id="3" name="TextBox 2">
            <a:extLst>
              <a:ext uri="{FF2B5EF4-FFF2-40B4-BE49-F238E27FC236}">
                <a16:creationId xmlns:a16="http://schemas.microsoft.com/office/drawing/2014/main" id="{8AD5976A-E96C-DF78-2D1D-42CD64D3E69F}"/>
              </a:ext>
            </a:extLst>
          </p:cNvPr>
          <p:cNvSpPr txBox="1"/>
          <p:nvPr/>
        </p:nvSpPr>
        <p:spPr>
          <a:xfrm>
            <a:off x="520861" y="3191948"/>
            <a:ext cx="14393120" cy="5078313"/>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All recordings, files used and communication will be on Teams channel</a:t>
            </a:r>
          </a:p>
          <a:p>
            <a:pPr marL="1143000" lvl="1"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Be sure to use your email used to sign up for the course!</a:t>
            </a:r>
          </a:p>
          <a:p>
            <a:pPr marL="1143000" lvl="1"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Email me with any questions: </a:t>
            </a:r>
            <a:r>
              <a:rPr lang="en-US" sz="5400" b="1" dirty="0">
                <a:solidFill>
                  <a:srgbClr val="707070"/>
                </a:solidFill>
                <a:latin typeface="Pragmatica" panose="020B0403040502020204" pitchFamily="34" charset="0"/>
              </a:rPr>
              <a:t>george@stringfestanalytics.com </a:t>
            </a:r>
          </a:p>
        </p:txBody>
      </p:sp>
      <p:pic>
        <p:nvPicPr>
          <p:cNvPr id="15" name="Picture 14" descr="A close up of a sign&#10;&#10;Description automatically generated">
            <a:extLst>
              <a:ext uri="{FF2B5EF4-FFF2-40B4-BE49-F238E27FC236}">
                <a16:creationId xmlns:a16="http://schemas.microsoft.com/office/drawing/2014/main" id="{56BC9DC3-5856-1F48-F0BE-E6FB58953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3740785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6ACC5-4B11-2B34-2998-BB1C4FC9CC6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DA2185A-0457-8E44-DEEB-D9AF5A6DD844}"/>
              </a:ext>
            </a:extLst>
          </p:cNvPr>
          <p:cNvSpPr txBox="1"/>
          <p:nvPr/>
        </p:nvSpPr>
        <p:spPr>
          <a:xfrm>
            <a:off x="520861" y="170082"/>
            <a:ext cx="6794339" cy="3785652"/>
          </a:xfrm>
          <a:prstGeom prst="rect">
            <a:avLst/>
          </a:prstGeom>
          <a:noFill/>
        </p:spPr>
        <p:txBody>
          <a:bodyPr wrap="square" rtlCol="0">
            <a:spAutoFit/>
          </a:bodyPr>
          <a:lstStyle/>
          <a:p>
            <a:r>
              <a:rPr lang="en-US" sz="8000" dirty="0">
                <a:latin typeface="Aliens &amp; cows" panose="00000500000000000000" pitchFamily="2" charset="0"/>
              </a:rPr>
              <a:t>Welcome to the modern Excel AI stack</a:t>
            </a:r>
          </a:p>
        </p:txBody>
      </p:sp>
      <p:pic>
        <p:nvPicPr>
          <p:cNvPr id="15" name="Picture 14" descr="A close up of a sign&#10;&#10;Description automatically generated">
            <a:extLst>
              <a:ext uri="{FF2B5EF4-FFF2-40B4-BE49-F238E27FC236}">
                <a16:creationId xmlns:a16="http://schemas.microsoft.com/office/drawing/2014/main" id="{B40CB128-54BB-AAD9-5F61-2143EA93C3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4" name="TextBox 3">
            <a:extLst>
              <a:ext uri="{FF2B5EF4-FFF2-40B4-BE49-F238E27FC236}">
                <a16:creationId xmlns:a16="http://schemas.microsoft.com/office/drawing/2014/main" id="{59AB6FFB-7FD0-7057-BC27-8C4B01CE34D2}"/>
              </a:ext>
            </a:extLst>
          </p:cNvPr>
          <p:cNvSpPr txBox="1"/>
          <p:nvPr/>
        </p:nvSpPr>
        <p:spPr>
          <a:xfrm>
            <a:off x="228600" y="8267700"/>
            <a:ext cx="6400800" cy="1569660"/>
          </a:xfrm>
          <a:prstGeom prst="rect">
            <a:avLst/>
          </a:prstGeom>
          <a:noFill/>
        </p:spPr>
        <p:txBody>
          <a:bodyPr wrap="square">
            <a:spAutoFit/>
          </a:bodyPr>
          <a:lstStyle/>
          <a:p>
            <a:r>
              <a:rPr lang="en-US" sz="3200" dirty="0">
                <a:hlinkClick r:id="rId3"/>
              </a:rPr>
              <a:t>https://stringfestanalytics.com/how-to-understand-the-modern-excel-ai-stack/</a:t>
            </a:r>
            <a:r>
              <a:rPr lang="en-US" sz="3200" dirty="0"/>
              <a:t> </a:t>
            </a:r>
          </a:p>
        </p:txBody>
      </p:sp>
      <p:pic>
        <p:nvPicPr>
          <p:cNvPr id="5" name="Picture 4">
            <a:extLst>
              <a:ext uri="{FF2B5EF4-FFF2-40B4-BE49-F238E27FC236}">
                <a16:creationId xmlns:a16="http://schemas.microsoft.com/office/drawing/2014/main" id="{B9D87183-BF8B-3C89-D59E-109566F38D46}"/>
              </a:ext>
            </a:extLst>
          </p:cNvPr>
          <p:cNvPicPr>
            <a:picLocks noChangeAspect="1"/>
          </p:cNvPicPr>
          <p:nvPr/>
        </p:nvPicPr>
        <p:blipFill>
          <a:blip r:embed="rId4"/>
          <a:stretch>
            <a:fillRect/>
          </a:stretch>
        </p:blipFill>
        <p:spPr>
          <a:xfrm>
            <a:off x="8001000" y="0"/>
            <a:ext cx="10287000" cy="10287000"/>
          </a:xfrm>
          <a:prstGeom prst="rect">
            <a:avLst/>
          </a:prstGeom>
        </p:spPr>
      </p:pic>
      <p:sp>
        <p:nvSpPr>
          <p:cNvPr id="2" name="Rectangle 1">
            <a:extLst>
              <a:ext uri="{FF2B5EF4-FFF2-40B4-BE49-F238E27FC236}">
                <a16:creationId xmlns:a16="http://schemas.microsoft.com/office/drawing/2014/main" id="{2A65A1F1-433D-842C-ED33-95F0AF974DBB}"/>
              </a:ext>
            </a:extLst>
          </p:cNvPr>
          <p:cNvSpPr/>
          <p:nvPr/>
        </p:nvSpPr>
        <p:spPr>
          <a:xfrm>
            <a:off x="8915400" y="4914900"/>
            <a:ext cx="8610600" cy="1447800"/>
          </a:xfrm>
          <a:prstGeom prst="rect">
            <a:avLst/>
          </a:prstGeom>
          <a:noFill/>
          <a:ln w="76200">
            <a:solidFill>
              <a:srgbClr val="CF33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1422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7B9AA-11DF-07E9-D10F-D48AA35895E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DFA40A7-39FC-41CC-77EA-1665157EAAEE}"/>
              </a:ext>
            </a:extLst>
          </p:cNvPr>
          <p:cNvSpPr txBox="1"/>
          <p:nvPr/>
        </p:nvSpPr>
        <p:spPr>
          <a:xfrm>
            <a:off x="520861" y="170082"/>
            <a:ext cx="18148139" cy="1323439"/>
          </a:xfrm>
          <a:prstGeom prst="rect">
            <a:avLst/>
          </a:prstGeom>
          <a:noFill/>
        </p:spPr>
        <p:txBody>
          <a:bodyPr wrap="square" rtlCol="0">
            <a:spAutoFit/>
          </a:bodyPr>
          <a:lstStyle/>
          <a:p>
            <a:r>
              <a:rPr lang="en-US" sz="8000" dirty="0">
                <a:latin typeface="Aliens &amp; cows" panose="00000500000000000000" pitchFamily="2" charset="0"/>
              </a:rPr>
              <a:t>The integration-automation AI framework</a:t>
            </a:r>
          </a:p>
        </p:txBody>
      </p:sp>
      <p:sp>
        <p:nvSpPr>
          <p:cNvPr id="3" name="TextBox 2">
            <a:extLst>
              <a:ext uri="{FF2B5EF4-FFF2-40B4-BE49-F238E27FC236}">
                <a16:creationId xmlns:a16="http://schemas.microsoft.com/office/drawing/2014/main" id="{7B5C03DE-34B5-5138-BBDA-CAB910B0E4B6}"/>
              </a:ext>
            </a:extLst>
          </p:cNvPr>
          <p:cNvSpPr txBox="1"/>
          <p:nvPr/>
        </p:nvSpPr>
        <p:spPr>
          <a:xfrm>
            <a:off x="8860" y="9172714"/>
            <a:ext cx="14393120" cy="646331"/>
          </a:xfrm>
          <a:prstGeom prst="rect">
            <a:avLst/>
          </a:prstGeom>
          <a:noFill/>
        </p:spPr>
        <p:txBody>
          <a:bodyPr wrap="square" rtlCol="0">
            <a:spAutoFit/>
          </a:bodyPr>
          <a:lstStyle/>
          <a:p>
            <a:r>
              <a:rPr lang="en-US" sz="3600" dirty="0">
                <a:hlinkClick r:id="rId3">
                  <a:extLst>
                    <a:ext uri="{A12FA001-AC4F-418D-AE19-62706E023703}">
                      <ahyp:hlinkClr xmlns:ahyp="http://schemas.microsoft.com/office/drawing/2018/hyperlinkcolor" val="tx"/>
                    </a:ext>
                  </a:extLst>
                </a:hlinkClick>
              </a:rPr>
              <a:t>https://blog.tobiaszwingmann.com/p/integration-automation-ai-framework</a:t>
            </a:r>
            <a:r>
              <a:rPr lang="en-US" sz="3600" dirty="0"/>
              <a:t>   </a:t>
            </a:r>
          </a:p>
        </p:txBody>
      </p:sp>
      <p:pic>
        <p:nvPicPr>
          <p:cNvPr id="15" name="Picture 14" descr="A close up of a sign&#10;&#10;Description automatically generated">
            <a:extLst>
              <a:ext uri="{FF2B5EF4-FFF2-40B4-BE49-F238E27FC236}">
                <a16:creationId xmlns:a16="http://schemas.microsoft.com/office/drawing/2014/main" id="{061C0269-AC87-2563-77CD-7723231528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pic>
        <p:nvPicPr>
          <p:cNvPr id="2" name="Picture 2">
            <a:extLst>
              <a:ext uri="{FF2B5EF4-FFF2-40B4-BE49-F238E27FC236}">
                <a16:creationId xmlns:a16="http://schemas.microsoft.com/office/drawing/2014/main" id="{9AC67B3E-5FC4-3CB3-963D-F64C18FD4A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1200" y="1552678"/>
            <a:ext cx="8458380" cy="7181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8227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p:cNvSpPr txBox="1"/>
          <p:nvPr/>
        </p:nvSpPr>
        <p:spPr>
          <a:xfrm>
            <a:off x="260431" y="329879"/>
            <a:ext cx="8906720" cy="9147441"/>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Studying penguins with Copilot</a:t>
            </a:r>
          </a:p>
          <a:p>
            <a:endParaRPr lang="en-US" sz="4200" dirty="0">
              <a:solidFill>
                <a:srgbClr val="CF3338"/>
              </a:solidFill>
              <a:latin typeface="Pragmatica" panose="020B0403040502020204" pitchFamily="34" charset="0"/>
            </a:endParaRPr>
          </a:p>
          <a:p>
            <a:pPr marL="342900" marR="0" lvl="0" indent="-342900">
              <a:lnSpc>
                <a:spcPct val="150000"/>
              </a:lnSpc>
              <a:spcBef>
                <a:spcPts val="0"/>
              </a:spcBef>
              <a:spcAft>
                <a:spcPts val="0"/>
              </a:spcAft>
              <a:buFont typeface="+mj-lt"/>
              <a:buAutoNum type="arabicPeriod"/>
            </a:pPr>
            <a:r>
              <a:rPr lang="en-US" sz="3600" kern="100" dirty="0">
                <a:solidFill>
                  <a:srgbClr val="CF3338"/>
                </a:solidFill>
                <a:latin typeface="Pragmatica" panose="020B0403040502020204"/>
                <a:ea typeface="Aptos" panose="020B0004020202020204" pitchFamily="34" charset="0"/>
                <a:cs typeface="Times New Roman" panose="02020603050405020304" pitchFamily="18" charset="0"/>
              </a:rPr>
              <a:t>Workbook: </a:t>
            </a:r>
            <a:r>
              <a:rPr lang="en-US" sz="3600" kern="100" dirty="0">
                <a:solidFill>
                  <a:srgbClr val="CF3338"/>
                </a:solidFill>
                <a:latin typeface="Consolas" panose="020B0609020204030204" pitchFamily="49" charset="0"/>
                <a:ea typeface="Aptos" panose="020B0004020202020204" pitchFamily="34" charset="0"/>
                <a:cs typeface="Times New Roman" panose="02020603050405020304" pitchFamily="18" charset="0"/>
              </a:rPr>
              <a:t>penguins.xlsx</a:t>
            </a:r>
            <a:endParaRPr lang="en-US" sz="3600" kern="100" dirty="0">
              <a:solidFill>
                <a:srgbClr val="CF3338"/>
              </a:solidFill>
              <a:effectLst/>
              <a:latin typeface="Consolas" panose="020B0609020204030204" pitchFamily="49" charset="0"/>
              <a:ea typeface="Aptos" panose="020B0004020202020204" pitchFamily="34" charset="0"/>
              <a:cs typeface="Times New Roman" panose="02020603050405020304" pitchFamily="18" charset="0"/>
            </a:endParaRPr>
          </a:p>
          <a:p>
            <a:pPr marL="342900" marR="0" lvl="0" indent="-342900">
              <a:lnSpc>
                <a:spcPct val="150000"/>
              </a:lnSpc>
              <a:spcBef>
                <a:spcPts val="0"/>
              </a:spcBef>
              <a:spcAft>
                <a:spcPts val="0"/>
              </a:spcAft>
              <a:buFont typeface="+mj-lt"/>
              <a:buAutoNum type="arabicPeriod"/>
            </a:pPr>
            <a:r>
              <a:rPr lang="en-US" sz="3600" kern="100" dirty="0">
                <a:solidFill>
                  <a:srgbClr val="CF3338"/>
                </a:solidFill>
                <a:effectLst/>
                <a:latin typeface="Pragmatica" panose="020B0403040502020204"/>
                <a:ea typeface="Aptos" panose="020B0004020202020204" pitchFamily="34" charset="0"/>
                <a:cs typeface="Times New Roman" panose="02020603050405020304" pitchFamily="18" charset="0"/>
              </a:rPr>
              <a:t>Getting data Copilot-friendly</a:t>
            </a:r>
          </a:p>
          <a:p>
            <a:pPr marL="342900" marR="0" lvl="0" indent="-342900">
              <a:lnSpc>
                <a:spcPct val="150000"/>
              </a:lnSpc>
              <a:spcBef>
                <a:spcPts val="0"/>
              </a:spcBef>
              <a:spcAft>
                <a:spcPts val="0"/>
              </a:spcAft>
              <a:buFont typeface="+mj-lt"/>
              <a:buAutoNum type="arabicPeriod"/>
            </a:pPr>
            <a:r>
              <a:rPr lang="en-US" sz="3600" kern="100" dirty="0">
                <a:solidFill>
                  <a:srgbClr val="CF3338"/>
                </a:solidFill>
                <a:effectLst/>
                <a:latin typeface="Pragmatica" panose="020B0403040502020204"/>
                <a:ea typeface="Aptos" panose="020B0004020202020204" pitchFamily="34" charset="0"/>
                <a:cs typeface="Times New Roman" panose="02020603050405020304" pitchFamily="18" charset="0"/>
              </a:rPr>
              <a:t>Formatting data as a Table</a:t>
            </a:r>
          </a:p>
          <a:p>
            <a:pPr marL="342900" marR="0" lvl="0" indent="-342900">
              <a:lnSpc>
                <a:spcPct val="150000"/>
              </a:lnSpc>
              <a:spcBef>
                <a:spcPts val="0"/>
              </a:spcBef>
              <a:spcAft>
                <a:spcPts val="0"/>
              </a:spcAft>
              <a:buFont typeface="+mj-lt"/>
              <a:buAutoNum type="arabicPeriod"/>
            </a:pPr>
            <a:r>
              <a:rPr lang="en-US" sz="3600" kern="100" dirty="0">
                <a:solidFill>
                  <a:srgbClr val="CF3338"/>
                </a:solidFill>
                <a:effectLst/>
                <a:latin typeface="Pragmatica" panose="020B0403040502020204"/>
                <a:ea typeface="Aptos" panose="020B0004020202020204" pitchFamily="34" charset="0"/>
                <a:cs typeface="Times New Roman" panose="02020603050405020304" pitchFamily="18" charset="0"/>
              </a:rPr>
              <a:t>Creating calculated columns</a:t>
            </a:r>
          </a:p>
          <a:p>
            <a:pPr marL="342900" marR="0" lvl="0" indent="-342900">
              <a:lnSpc>
                <a:spcPct val="150000"/>
              </a:lnSpc>
              <a:spcBef>
                <a:spcPts val="0"/>
              </a:spcBef>
              <a:spcAft>
                <a:spcPts val="0"/>
              </a:spcAft>
              <a:buFont typeface="+mj-lt"/>
              <a:buAutoNum type="arabicPeriod"/>
            </a:pPr>
            <a:r>
              <a:rPr lang="en-US" sz="3600" kern="100" dirty="0">
                <a:solidFill>
                  <a:srgbClr val="CF3338"/>
                </a:solidFill>
                <a:effectLst/>
                <a:latin typeface="Pragmatica" panose="020B0403040502020204"/>
                <a:ea typeface="Aptos" panose="020B0004020202020204" pitchFamily="34" charset="0"/>
                <a:cs typeface="Times New Roman" panose="02020603050405020304" pitchFamily="18" charset="0"/>
              </a:rPr>
              <a:t>Building summary charts</a:t>
            </a:r>
          </a:p>
          <a:p>
            <a:pPr marL="342900" marR="0" lvl="0" indent="-342900">
              <a:lnSpc>
                <a:spcPct val="150000"/>
              </a:lnSpc>
              <a:spcBef>
                <a:spcPts val="0"/>
              </a:spcBef>
              <a:spcAft>
                <a:spcPts val="0"/>
              </a:spcAft>
              <a:buFont typeface="+mj-lt"/>
              <a:buAutoNum type="arabicPeriod"/>
            </a:pPr>
            <a:r>
              <a:rPr lang="en-US" sz="3600" kern="100" dirty="0">
                <a:solidFill>
                  <a:srgbClr val="CF3338"/>
                </a:solidFill>
                <a:effectLst/>
                <a:latin typeface="Pragmatica" panose="020B0403040502020204"/>
                <a:ea typeface="Aptos" panose="020B0004020202020204" pitchFamily="34" charset="0"/>
                <a:cs typeface="Times New Roman" panose="02020603050405020304" pitchFamily="18" charset="0"/>
              </a:rPr>
              <a:t>Using PivotTables</a:t>
            </a:r>
          </a:p>
          <a:p>
            <a:pPr marL="342900" marR="0" lvl="0" indent="-342900">
              <a:lnSpc>
                <a:spcPct val="150000"/>
              </a:lnSpc>
              <a:spcBef>
                <a:spcPts val="0"/>
              </a:spcBef>
              <a:spcAft>
                <a:spcPts val="0"/>
              </a:spcAft>
              <a:buFont typeface="+mj-lt"/>
              <a:buAutoNum type="arabicPeriod"/>
            </a:pPr>
            <a:r>
              <a:rPr lang="en-US" sz="3600" kern="100" dirty="0">
                <a:solidFill>
                  <a:srgbClr val="CF3338"/>
                </a:solidFill>
                <a:effectLst/>
                <a:latin typeface="Pragmatica" panose="020B0403040502020204"/>
                <a:ea typeface="Aptos" panose="020B0004020202020204" pitchFamily="34" charset="0"/>
                <a:cs typeface="Times New Roman" panose="02020603050405020304" pitchFamily="18" charset="0"/>
              </a:rPr>
              <a:t>Exploring advanced analysis with Python in Excel</a:t>
            </a:r>
          </a:p>
        </p:txBody>
      </p:sp>
    </p:spTree>
    <p:extLst>
      <p:ext uri="{BB962C8B-B14F-4D97-AF65-F5344CB8AC3E}">
        <p14:creationId xmlns:p14="http://schemas.microsoft.com/office/powerpoint/2010/main" val="1679221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B2F53-9CBC-02CA-9A51-ED2E8A94463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DA59A59-1845-383F-38E2-0337D6AE0BFB}"/>
              </a:ext>
            </a:extLst>
          </p:cNvPr>
          <p:cNvSpPr txBox="1"/>
          <p:nvPr/>
        </p:nvSpPr>
        <p:spPr>
          <a:xfrm>
            <a:off x="520861" y="170082"/>
            <a:ext cx="16395539" cy="1200329"/>
          </a:xfrm>
          <a:prstGeom prst="rect">
            <a:avLst/>
          </a:prstGeom>
          <a:noFill/>
        </p:spPr>
        <p:txBody>
          <a:bodyPr wrap="square" rtlCol="0">
            <a:spAutoFit/>
          </a:bodyPr>
          <a:lstStyle/>
          <a:p>
            <a:r>
              <a:rPr lang="en-US" sz="7200" dirty="0">
                <a:latin typeface="Aliens &amp; cows" panose="00000500000000000000" pitchFamily="2" charset="0"/>
              </a:rPr>
              <a:t>Excel Copilot vs Excel Agent Mode</a:t>
            </a:r>
          </a:p>
        </p:txBody>
      </p:sp>
      <p:pic>
        <p:nvPicPr>
          <p:cNvPr id="15" name="Picture 14" descr="A close up of a sign&#10;&#10;Description automatically generated">
            <a:extLst>
              <a:ext uri="{FF2B5EF4-FFF2-40B4-BE49-F238E27FC236}">
                <a16:creationId xmlns:a16="http://schemas.microsoft.com/office/drawing/2014/main" id="{25B7AACD-032E-784C-D92C-BF6F5751F6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graphicFrame>
        <p:nvGraphicFramePr>
          <p:cNvPr id="3" name="Table 2">
            <a:extLst>
              <a:ext uri="{FF2B5EF4-FFF2-40B4-BE49-F238E27FC236}">
                <a16:creationId xmlns:a16="http://schemas.microsoft.com/office/drawing/2014/main" id="{A7829486-E1C2-6EFC-4E09-983F9108F30F}"/>
              </a:ext>
            </a:extLst>
          </p:cNvPr>
          <p:cNvGraphicFramePr>
            <a:graphicFrameLocks noGrp="1"/>
          </p:cNvGraphicFramePr>
          <p:nvPr/>
        </p:nvGraphicFramePr>
        <p:xfrm>
          <a:off x="457200" y="1714340"/>
          <a:ext cx="14401800" cy="7162962"/>
        </p:xfrm>
        <a:graphic>
          <a:graphicData uri="http://schemas.openxmlformats.org/drawingml/2006/table">
            <a:tbl>
              <a:tblPr/>
              <a:tblGrid>
                <a:gridCol w="4800600">
                  <a:extLst>
                    <a:ext uri="{9D8B030D-6E8A-4147-A177-3AD203B41FA5}">
                      <a16:colId xmlns:a16="http://schemas.microsoft.com/office/drawing/2014/main" val="4201771282"/>
                    </a:ext>
                  </a:extLst>
                </a:gridCol>
                <a:gridCol w="4800600">
                  <a:extLst>
                    <a:ext uri="{9D8B030D-6E8A-4147-A177-3AD203B41FA5}">
                      <a16:colId xmlns:a16="http://schemas.microsoft.com/office/drawing/2014/main" val="777237233"/>
                    </a:ext>
                  </a:extLst>
                </a:gridCol>
                <a:gridCol w="4800600">
                  <a:extLst>
                    <a:ext uri="{9D8B030D-6E8A-4147-A177-3AD203B41FA5}">
                      <a16:colId xmlns:a16="http://schemas.microsoft.com/office/drawing/2014/main" val="673316634"/>
                    </a:ext>
                  </a:extLst>
                </a:gridCol>
              </a:tblGrid>
              <a:tr h="609614">
                <a:tc>
                  <a:txBody>
                    <a:bodyPr/>
                    <a:lstStyle/>
                    <a:p>
                      <a:pPr>
                        <a:buNone/>
                      </a:pPr>
                      <a:r>
                        <a:rPr lang="en-US" sz="3200" b="1"/>
                        <a:t>Feature</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b="1"/>
                        <a:t>Excel Copilot</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b="1"/>
                        <a:t>Agent Mode</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06272724"/>
                  </a:ext>
                </a:extLst>
              </a:tr>
              <a:tr h="1066824">
                <a:tc>
                  <a:txBody>
                    <a:bodyPr/>
                    <a:lstStyle/>
                    <a:p>
                      <a:pPr>
                        <a:buNone/>
                      </a:pPr>
                      <a:r>
                        <a:rPr lang="en-US" sz="3200" b="1"/>
                        <a:t>Interaction</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One-shot prompts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Iterative, self-guided workflow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507712"/>
                  </a:ext>
                </a:extLst>
              </a:tr>
              <a:tr h="1066824">
                <a:tc>
                  <a:txBody>
                    <a:bodyPr/>
                    <a:lstStyle/>
                    <a:p>
                      <a:pPr>
                        <a:buNone/>
                      </a:pPr>
                      <a:r>
                        <a:rPr lang="en-US" sz="3200" b="1"/>
                        <a:t>Task Scope</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Single actions (formulas, charts, summaries)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Multi-step processes across sheets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2026323"/>
                  </a:ext>
                </a:extLst>
              </a:tr>
              <a:tr h="1066824">
                <a:tc>
                  <a:txBody>
                    <a:bodyPr/>
                    <a:lstStyle/>
                    <a:p>
                      <a:pPr>
                        <a:buNone/>
                      </a:pPr>
                      <a:r>
                        <a:rPr lang="en-US" sz="3200" b="1"/>
                        <a:t>Error Handling</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User re-prompts or fixes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Agent reviews, retries, self-corrects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923970"/>
                  </a:ext>
                </a:extLst>
              </a:tr>
              <a:tr h="1066824">
                <a:tc>
                  <a:txBody>
                    <a:bodyPr/>
                    <a:lstStyle/>
                    <a:p>
                      <a:pPr>
                        <a:buNone/>
                      </a:pPr>
                      <a:r>
                        <a:rPr lang="en-US" sz="3200" b="1"/>
                        <a:t>User Role</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You do, Copilot helps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You manage, Agent executes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7454490"/>
                  </a:ext>
                </a:extLst>
              </a:tr>
              <a:tr h="609614">
                <a:tc>
                  <a:txBody>
                    <a:bodyPr/>
                    <a:lstStyle/>
                    <a:p>
                      <a:pPr>
                        <a:buNone/>
                      </a:pPr>
                      <a:r>
                        <a:rPr lang="en-US" sz="3200" b="1"/>
                        <a:t>Output Quality</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Fast but shallow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Verified and repeatable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1303429"/>
                  </a:ext>
                </a:extLst>
              </a:tr>
              <a:tr h="1066824">
                <a:tc>
                  <a:txBody>
                    <a:bodyPr/>
                    <a:lstStyle/>
                    <a:p>
                      <a:pPr>
                        <a:buNone/>
                      </a:pPr>
                      <a:r>
                        <a:rPr lang="en-US" sz="3200" b="1"/>
                        <a:t>Best For</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Quick wins, ad-hoc tasks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Structured, high-stakes workflows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8752908"/>
                  </a:ext>
                </a:extLst>
              </a:tr>
              <a:tr h="609614">
                <a:tc>
                  <a:txBody>
                    <a:bodyPr/>
                    <a:lstStyle/>
                    <a:p>
                      <a:pPr>
                        <a:buNone/>
                      </a:pPr>
                      <a:r>
                        <a:rPr lang="en-US" sz="3200" b="1"/>
                        <a:t>Analogy</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Smart assistant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Junior analyst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5630930"/>
                  </a:ext>
                </a:extLst>
              </a:tr>
            </a:tbl>
          </a:graphicData>
        </a:graphic>
      </p:graphicFrame>
    </p:spTree>
    <p:extLst>
      <p:ext uri="{BB962C8B-B14F-4D97-AF65-F5344CB8AC3E}">
        <p14:creationId xmlns:p14="http://schemas.microsoft.com/office/powerpoint/2010/main" val="2460281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p:cNvSpPr txBox="1"/>
          <p:nvPr/>
        </p:nvSpPr>
        <p:spPr>
          <a:xfrm>
            <a:off x="260431" y="329879"/>
            <a:ext cx="8906720" cy="8490401"/>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Demo: Agent Mode in action</a:t>
            </a:r>
          </a:p>
          <a:p>
            <a:endParaRPr lang="en-US" sz="4200" dirty="0">
              <a:solidFill>
                <a:srgbClr val="CF3338"/>
              </a:solidFill>
              <a:latin typeface="Pragmatica" panose="020B0403040502020204" pitchFamily="34" charset="0"/>
            </a:endParaRP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Loan calculator</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Variance analysis</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Monthly close pack</a:t>
            </a:r>
          </a:p>
          <a:p>
            <a:pPr marL="685800" indent="-542925">
              <a:lnSpc>
                <a:spcPct val="115000"/>
              </a:lnSpc>
              <a:spcBef>
                <a:spcPts val="1125"/>
              </a:spcBef>
              <a:buClr>
                <a:srgbClr val="C00000"/>
              </a:buClr>
              <a:buSzPts val="2100"/>
              <a:buFont typeface="Arial"/>
              <a:buAutoNum type="arabicPeriod"/>
            </a:pPr>
            <a:endParaRPr lang="en-US" sz="3600" dirty="0">
              <a:solidFill>
                <a:srgbClr val="C00000"/>
              </a:solidFill>
              <a:latin typeface="Pragmatica" panose="020B0403040502020204"/>
              <a:sym typeface="Consolas"/>
            </a:endParaRPr>
          </a:p>
          <a:p>
            <a:pPr marL="142875">
              <a:lnSpc>
                <a:spcPct val="115000"/>
              </a:lnSpc>
              <a:spcBef>
                <a:spcPts val="1125"/>
              </a:spcBef>
              <a:buClr>
                <a:srgbClr val="C00000"/>
              </a:buClr>
              <a:buSzPts val="2100"/>
            </a:pPr>
            <a:r>
              <a:rPr lang="en-US" sz="3600" dirty="0">
                <a:solidFill>
                  <a:srgbClr val="C00000"/>
                </a:solidFill>
                <a:latin typeface="Pragmatica" panose="020B0403040502020204"/>
                <a:sym typeface="Consolas"/>
              </a:rPr>
              <a:t>What does Agent Mode do well, poorly, or not at all? </a:t>
            </a:r>
          </a:p>
          <a:p>
            <a:pPr marL="142875">
              <a:lnSpc>
                <a:spcPct val="115000"/>
              </a:lnSpc>
              <a:spcBef>
                <a:spcPts val="1125"/>
              </a:spcBef>
              <a:buClr>
                <a:srgbClr val="C00000"/>
              </a:buClr>
              <a:buSzPts val="2100"/>
            </a:pPr>
            <a:r>
              <a:rPr lang="en-US" sz="3600" dirty="0">
                <a:solidFill>
                  <a:srgbClr val="C00000"/>
                </a:solidFill>
                <a:latin typeface="Pragmatica" panose="020B0403040502020204"/>
                <a:sym typeface="Consolas"/>
              </a:rPr>
              <a:t>How does this relate to other tools in the Excel AI stack?</a:t>
            </a:r>
            <a:endParaRPr lang="en-US" sz="3600" dirty="0">
              <a:solidFill>
                <a:srgbClr val="C00000"/>
              </a:solidFill>
              <a:latin typeface="Consolas" panose="020B0609020204030204" pitchFamily="49" charset="0"/>
              <a:sym typeface="Consolas"/>
            </a:endParaRPr>
          </a:p>
        </p:txBody>
      </p:sp>
    </p:spTree>
    <p:extLst>
      <p:ext uri="{BB962C8B-B14F-4D97-AF65-F5344CB8AC3E}">
        <p14:creationId xmlns:p14="http://schemas.microsoft.com/office/powerpoint/2010/main" val="1296198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778E5-4EE9-9207-6FC7-3D28CF2383A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81603C7-76CD-A76B-F955-68F3329D8967}"/>
              </a:ext>
            </a:extLst>
          </p:cNvPr>
          <p:cNvSpPr txBox="1"/>
          <p:nvPr/>
        </p:nvSpPr>
        <p:spPr>
          <a:xfrm>
            <a:off x="520861" y="170082"/>
            <a:ext cx="14642939" cy="1477328"/>
          </a:xfrm>
          <a:prstGeom prst="rect">
            <a:avLst/>
          </a:prstGeom>
          <a:noFill/>
        </p:spPr>
        <p:txBody>
          <a:bodyPr wrap="square" rtlCol="0">
            <a:spAutoFit/>
          </a:bodyPr>
          <a:lstStyle/>
          <a:p>
            <a:r>
              <a:rPr lang="en-US" sz="9000" dirty="0">
                <a:latin typeface="Aliens &amp; cows" panose="00000500000000000000" pitchFamily="2" charset="0"/>
              </a:rPr>
              <a:t>So what for AI?</a:t>
            </a:r>
          </a:p>
        </p:txBody>
      </p:sp>
      <p:sp>
        <p:nvSpPr>
          <p:cNvPr id="3" name="TextBox 2">
            <a:extLst>
              <a:ext uri="{FF2B5EF4-FFF2-40B4-BE49-F238E27FC236}">
                <a16:creationId xmlns:a16="http://schemas.microsoft.com/office/drawing/2014/main" id="{5F84214C-EACA-355D-FAEB-44DBEAE3040B}"/>
              </a:ext>
            </a:extLst>
          </p:cNvPr>
          <p:cNvSpPr txBox="1"/>
          <p:nvPr/>
        </p:nvSpPr>
        <p:spPr>
          <a:xfrm>
            <a:off x="520861" y="2095500"/>
            <a:ext cx="14393120" cy="7571303"/>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AI in Excel is only one layer of the workflow</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You still need to get data in, secure it, and move it across systems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Power Automate connects Excel logic to real business processes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Dataverse keeps everything consistent so AI can trust your data</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These tools together make AI reliable, scalable, and production ready</a:t>
            </a:r>
          </a:p>
        </p:txBody>
      </p:sp>
      <p:pic>
        <p:nvPicPr>
          <p:cNvPr id="15" name="Picture 14" descr="A close up of a sign&#10;&#10;Description automatically generated">
            <a:extLst>
              <a:ext uri="{FF2B5EF4-FFF2-40B4-BE49-F238E27FC236}">
                <a16:creationId xmlns:a16="http://schemas.microsoft.com/office/drawing/2014/main" id="{6959BD9D-5738-BA78-737D-3115164D42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769688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78ECD-3650-0D5D-E084-2ADF9077632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BF29A83-0331-0E10-824A-4833E4760B19}"/>
              </a:ext>
            </a:extLst>
          </p:cNvPr>
          <p:cNvSpPr txBox="1"/>
          <p:nvPr/>
        </p:nvSpPr>
        <p:spPr>
          <a:xfrm>
            <a:off x="520861" y="170082"/>
            <a:ext cx="16700339" cy="1107996"/>
          </a:xfrm>
          <a:prstGeom prst="rect">
            <a:avLst/>
          </a:prstGeom>
          <a:noFill/>
        </p:spPr>
        <p:txBody>
          <a:bodyPr wrap="square" rtlCol="0">
            <a:spAutoFit/>
          </a:bodyPr>
          <a:lstStyle/>
          <a:p>
            <a:r>
              <a:rPr lang="en-US" sz="6600" dirty="0">
                <a:latin typeface="Aliens &amp; cows" panose="00000500000000000000" pitchFamily="2" charset="0"/>
              </a:rPr>
              <a:t>Day 4 preview: Turning analysis into action</a:t>
            </a:r>
          </a:p>
        </p:txBody>
      </p:sp>
      <p:sp>
        <p:nvSpPr>
          <p:cNvPr id="3" name="TextBox 2">
            <a:extLst>
              <a:ext uri="{FF2B5EF4-FFF2-40B4-BE49-F238E27FC236}">
                <a16:creationId xmlns:a16="http://schemas.microsoft.com/office/drawing/2014/main" id="{1F8BFEA8-EC1E-D186-8530-6533D3345701}"/>
              </a:ext>
            </a:extLst>
          </p:cNvPr>
          <p:cNvSpPr txBox="1"/>
          <p:nvPr/>
        </p:nvSpPr>
        <p:spPr>
          <a:xfrm>
            <a:off x="520861" y="2095500"/>
            <a:ext cx="14393120" cy="6740307"/>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Office Scripts automate the clicks and steps you already take in Excel</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Power Automate turns those scripts into real workflows that run on their own</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Flows push data and results to Teams, Outlook, SharePoint and more</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Together they form the execution layer that carries your work beyond the workbook</a:t>
            </a:r>
          </a:p>
        </p:txBody>
      </p:sp>
      <p:pic>
        <p:nvPicPr>
          <p:cNvPr id="15" name="Picture 14" descr="A close up of a sign&#10;&#10;Description automatically generated">
            <a:extLst>
              <a:ext uri="{FF2B5EF4-FFF2-40B4-BE49-F238E27FC236}">
                <a16:creationId xmlns:a16="http://schemas.microsoft.com/office/drawing/2014/main" id="{49376407-AE9F-CCBA-4232-9DA21ADE63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2946292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50728" t="56371"/>
          <a:stretch/>
        </p:blipFill>
        <p:spPr>
          <a:xfrm>
            <a:off x="12204691" y="3316148"/>
            <a:ext cx="6083309" cy="697085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44" y="-3724155"/>
            <a:ext cx="15257208" cy="11189825"/>
          </a:xfrm>
          <a:prstGeom prst="rect">
            <a:avLst/>
          </a:prstGeom>
        </p:spPr>
      </p:pic>
      <p:sp>
        <p:nvSpPr>
          <p:cNvPr id="11" name="TextBox 10"/>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Questions?</a:t>
            </a:r>
          </a:p>
        </p:txBody>
      </p:sp>
      <p:pic>
        <p:nvPicPr>
          <p:cNvPr id="5" name="Picture 4">
            <a:extLst>
              <a:ext uri="{FF2B5EF4-FFF2-40B4-BE49-F238E27FC236}">
                <a16:creationId xmlns:a16="http://schemas.microsoft.com/office/drawing/2014/main" id="{54A06221-5316-4BCF-9FDA-BDB95FF4A7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04691" y="3317239"/>
            <a:ext cx="6083309" cy="6968672"/>
          </a:xfrm>
          <a:prstGeom prst="rect">
            <a:avLst/>
          </a:prstGeom>
        </p:spPr>
      </p:pic>
    </p:spTree>
    <p:extLst>
      <p:ext uri="{BB962C8B-B14F-4D97-AF65-F5344CB8AC3E}">
        <p14:creationId xmlns:p14="http://schemas.microsoft.com/office/powerpoint/2010/main" val="1689860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1CF9C-FC7D-DEAE-2D87-10577021DCAD}"/>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6CBD8B9-A494-A7F7-0F64-845B951EC99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a:extLst>
              <a:ext uri="{FF2B5EF4-FFF2-40B4-BE49-F238E27FC236}">
                <a16:creationId xmlns:a16="http://schemas.microsoft.com/office/drawing/2014/main" id="{AC63943A-3FAF-22B6-228E-4092BA65AC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a:extLst>
              <a:ext uri="{FF2B5EF4-FFF2-40B4-BE49-F238E27FC236}">
                <a16:creationId xmlns:a16="http://schemas.microsoft.com/office/drawing/2014/main" id="{5DFCEBB5-9C7D-6182-700C-0428AD2DDE67}"/>
              </a:ext>
            </a:extLst>
          </p:cNvPr>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THANK YOU</a:t>
            </a:r>
          </a:p>
        </p:txBody>
      </p:sp>
      <p:sp>
        <p:nvSpPr>
          <p:cNvPr id="2" name="AutoShape 2" descr="Home | Full Stack Modeller">
            <a:extLst>
              <a:ext uri="{FF2B5EF4-FFF2-40B4-BE49-F238E27FC236}">
                <a16:creationId xmlns:a16="http://schemas.microsoft.com/office/drawing/2014/main" id="{16E5F1F1-B220-BEC5-B5EA-499D4942916C}"/>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09344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3885</TotalTime>
  <Words>1064</Words>
  <Application>Microsoft Office PowerPoint</Application>
  <PresentationFormat>Custom</PresentationFormat>
  <Paragraphs>92</Paragraphs>
  <Slides>11</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Aliens &amp; cows</vt:lpstr>
      <vt:lpstr>Calibri</vt:lpstr>
      <vt:lpstr>Pragmatica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excel-statistics-for-business-analytics</dc:title>
  <dc:creator>User</dc:creator>
  <cp:lastModifiedBy>George Mount</cp:lastModifiedBy>
  <cp:revision>235</cp:revision>
  <dcterms:created xsi:type="dcterms:W3CDTF">2006-08-16T00:00:00Z</dcterms:created>
  <dcterms:modified xsi:type="dcterms:W3CDTF">2025-11-20T01:09:50Z</dcterms:modified>
  <dc:identifier>DADurESpNu8</dc:identifier>
</cp:coreProperties>
</file>