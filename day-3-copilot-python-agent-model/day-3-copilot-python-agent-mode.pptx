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256" r:id="rId2"/>
    <p:sldId id="455" r:id="rId3"/>
    <p:sldId id="475" r:id="rId4"/>
    <p:sldId id="471" r:id="rId5"/>
    <p:sldId id="439" r:id="rId6"/>
    <p:sldId id="428" r:id="rId7"/>
    <p:sldId id="440" r:id="rId8"/>
    <p:sldId id="441" r:id="rId9"/>
    <p:sldId id="474" r:id="rId10"/>
    <p:sldId id="473" r:id="rId11"/>
    <p:sldId id="415" r:id="rId12"/>
    <p:sldId id="470" r:id="rId13"/>
  </p:sldIdLst>
  <p:sldSz cx="18288000" cy="10287000"/>
  <p:notesSz cx="6858000" cy="9144000"/>
  <p:embeddedFontLst>
    <p:embeddedFont>
      <p:font typeface="Consolas" panose="020B0609020204030204" pitchFamily="49" charset="0"/>
      <p:regular r:id="rId15"/>
      <p:bold r:id="rId16"/>
      <p:italic r:id="rId17"/>
      <p:boldItalic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92" autoAdjust="0"/>
    <p:restoredTop sz="78463" autoAdjust="0"/>
  </p:normalViewPr>
  <p:slideViewPr>
    <p:cSldViewPr>
      <p:cViewPr varScale="1">
        <p:scale>
          <a:sx n="43" d="100"/>
          <a:sy n="43" d="100"/>
        </p:scale>
        <p:origin x="219" y="253"/>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the spectrum of AI tools based on two dimensions: how deeply they’re integrated into your workflow, and how much they can automate on their own.</a:t>
            </a:r>
          </a:p>
          <a:p>
            <a:endParaRPr lang="en-US" dirty="0"/>
          </a:p>
          <a:p>
            <a:r>
              <a:rPr lang="en-US" dirty="0"/>
              <a:t>In the bottom left, we have </a:t>
            </a:r>
            <a:r>
              <a:rPr lang="en-US" b="1" dirty="0"/>
              <a:t>Assistants</a:t>
            </a:r>
            <a:r>
              <a:rPr lang="en-US" dirty="0"/>
              <a:t> like ChatGPT or Bard. These tools are conversational and flexible, but they exist outside your main work environment. They can generate ideas, write text, or help explain concepts, but you have to feed them the context yourself. They don’t automatically connect to your files or data.</a:t>
            </a:r>
          </a:p>
          <a:p>
            <a:endParaRPr lang="en-US" dirty="0"/>
          </a:p>
          <a:p>
            <a:r>
              <a:rPr lang="en-US" dirty="0"/>
              <a:t>Moving up to the top left are </a:t>
            </a:r>
            <a:r>
              <a:rPr lang="en-US" b="1" dirty="0"/>
              <a:t>Copilots</a:t>
            </a:r>
            <a:r>
              <a:rPr lang="en-US" dirty="0"/>
              <a:t>, like Microsoft Copilot in Excel. These tools are highly integrated into your daily work tools. Copilot in Excel knows your workbook, formulas, and tables. It can help you analyze data, write formulas, and generate summaries—all inside Excel. But it’s still assistive, not autonomous. You’re in control, and it only acts when you prompt it.</a:t>
            </a:r>
          </a:p>
          <a:p>
            <a:r>
              <a:rPr lang="en-US" dirty="0"/>
              <a:t>On the bottom right are </a:t>
            </a:r>
            <a:r>
              <a:rPr lang="en-US" b="1" dirty="0"/>
              <a:t>Autopilots</a:t>
            </a:r>
            <a:r>
              <a:rPr lang="en-US" dirty="0"/>
              <a:t>, which handle repetitive processes automatically but without much awareness of your data. These might include automated social media posting or simple scheduled tasks. They act independently but lack real integration with your work context.</a:t>
            </a:r>
          </a:p>
          <a:p>
            <a:endParaRPr lang="en-US" dirty="0"/>
          </a:p>
          <a:p>
            <a:r>
              <a:rPr lang="en-US" dirty="0"/>
              <a:t>Finally, in the top right are </a:t>
            </a:r>
            <a:r>
              <a:rPr lang="en-US" b="1" dirty="0"/>
              <a:t>Agents</a:t>
            </a:r>
            <a:r>
              <a:rPr lang="en-US" dirty="0"/>
              <a:t>. These combine deep integration with high automation. Agents can understand your business data and act proactively—like automatically generating reports, summarizing meetings, or triggering workflows across apps.</a:t>
            </a:r>
          </a:p>
          <a:p>
            <a:endParaRPr lang="en-US" dirty="0"/>
          </a:p>
          <a:p>
            <a:r>
              <a:rPr lang="en-US" b="1" dirty="0"/>
              <a:t>Copilot in Excel</a:t>
            </a:r>
            <a:r>
              <a:rPr lang="en-US" dirty="0"/>
              <a:t> sits in the “Copilot” quadrant—it’s deeply embedded in your tools but still relies on you to guide it. </a:t>
            </a:r>
            <a:r>
              <a:rPr lang="en-US" b="1" dirty="0"/>
              <a:t>Agent Mode</a:t>
            </a:r>
            <a:r>
              <a:rPr lang="en-US" dirty="0"/>
              <a:t> is what happens when that same intelligence gains the ability to take initiative. It builds on Copilot’s understanding of your data but can connect across multiple apps and act without waiting for your command.</a:t>
            </a:r>
          </a:p>
          <a:p>
            <a:endParaRPr lang="en-US" dirty="0"/>
          </a:p>
          <a:p>
            <a:r>
              <a:rPr lang="en-US" dirty="0"/>
              <a:t>In short, Copilot helps you do the work; Agent Mode will start doing the work for you.</a:t>
            </a:r>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8281315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3864329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8</a:t>
            </a:fld>
            <a:endParaRPr lang="en-US"/>
          </a:p>
        </p:txBody>
      </p:sp>
    </p:spTree>
    <p:extLst>
      <p:ext uri="{BB962C8B-B14F-4D97-AF65-F5344CB8AC3E}">
        <p14:creationId xmlns:p14="http://schemas.microsoft.com/office/powerpoint/2010/main" val="6245492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stringfestanalytics.com/how-to-understand-the-modern-excel-ai-stack/" TargetMode="External"/><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hyperlink" Target="https://blog.tobiaszwingmann.com/p/integration-automation-ai-framewor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3: The Excel Intelligence Layer – Copilot, Python, Agent Mode</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697A-2DDC-AD06-0D5F-524946CCFA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25D70B-1F78-7AF8-4771-7B64B436CB0F}"/>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Class logistics</a:t>
            </a:r>
          </a:p>
        </p:txBody>
      </p:sp>
      <p:sp>
        <p:nvSpPr>
          <p:cNvPr id="3" name="TextBox 2">
            <a:extLst>
              <a:ext uri="{FF2B5EF4-FFF2-40B4-BE49-F238E27FC236}">
                <a16:creationId xmlns:a16="http://schemas.microsoft.com/office/drawing/2014/main" id="{8AD5976A-E96C-DF78-2D1D-42CD64D3E69F}"/>
              </a:ext>
            </a:extLst>
          </p:cNvPr>
          <p:cNvSpPr txBox="1"/>
          <p:nvPr/>
        </p:nvSpPr>
        <p:spPr>
          <a:xfrm>
            <a:off x="520861" y="3191948"/>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All recordings, files used and communication will be on Teams channel</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Be sure to use your email used to sign up for the course!</a:t>
            </a:r>
          </a:p>
          <a:p>
            <a:pPr marL="1143000" lvl="1"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Email me with any questions: </a:t>
            </a:r>
            <a:r>
              <a:rPr lang="en-US" sz="5400" b="1" dirty="0">
                <a:solidFill>
                  <a:srgbClr val="707070"/>
                </a:solidFill>
                <a:latin typeface="Pragmatica" panose="020B0403040502020204" pitchFamily="34" charset="0"/>
              </a:rPr>
              <a:t>george@stringfestanalytics.com </a:t>
            </a:r>
          </a:p>
        </p:txBody>
      </p:sp>
      <p:pic>
        <p:nvPicPr>
          <p:cNvPr id="15" name="Picture 14" descr="A close up of a sign&#10;&#10;Description automatically generated">
            <a:extLst>
              <a:ext uri="{FF2B5EF4-FFF2-40B4-BE49-F238E27FC236}">
                <a16:creationId xmlns:a16="http://schemas.microsoft.com/office/drawing/2014/main" id="{56BC9DC3-5856-1F48-F0BE-E6FB58953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7407850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a:latin typeface="Aliens &amp; cows" panose="00000500000000000000" pitchFamily="2" charset="0"/>
              </a:rPr>
              <a:t>Day 2 </a:t>
            </a:r>
            <a:r>
              <a:rPr lang="en-US" sz="9000" dirty="0">
                <a:latin typeface="Aliens &amp; cows" panose="00000500000000000000" pitchFamily="2" charset="0"/>
              </a:rPr>
              <a:t>recap</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590931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Connected Excel to Power BI + Dataverse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Moved data Excel → Power BI → Excel</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Introduced semantic models for governed, shared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Showed why clean, cloud data = better AI</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Explained how semantic models give AI context + meaning</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133890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3"/>
              </a:rPr>
              <a:t>https://stringfestanalytics.com/how-to-understand-the-modern-excel-ai-stack/</a:t>
            </a:r>
            <a:r>
              <a:rPr lang="en-US" sz="3200" dirty="0"/>
              <a:t> </a:t>
            </a:r>
          </a:p>
        </p:txBody>
      </p:sp>
      <p:pic>
        <p:nvPicPr>
          <p:cNvPr id="5" name="Picture 4">
            <a:extLst>
              <a:ext uri="{FF2B5EF4-FFF2-40B4-BE49-F238E27FC236}">
                <a16:creationId xmlns:a16="http://schemas.microsoft.com/office/drawing/2014/main" id="{B9D87183-BF8B-3C89-D59E-109566F38D46}"/>
              </a:ext>
            </a:extLst>
          </p:cNvPr>
          <p:cNvPicPr>
            <a:picLocks noChangeAspect="1"/>
          </p:cNvPicPr>
          <p:nvPr/>
        </p:nvPicPr>
        <p:blipFill>
          <a:blip r:embed="rId4"/>
          <a:stretch>
            <a:fillRect/>
          </a:stretch>
        </p:blipFill>
        <p:spPr>
          <a:xfrm>
            <a:off x="8001000" y="0"/>
            <a:ext cx="10287000" cy="10287000"/>
          </a:xfrm>
          <a:prstGeom prst="rect">
            <a:avLst/>
          </a:prstGeom>
        </p:spPr>
      </p:pic>
      <p:sp>
        <p:nvSpPr>
          <p:cNvPr id="2" name="Rectangle 1">
            <a:extLst>
              <a:ext uri="{FF2B5EF4-FFF2-40B4-BE49-F238E27FC236}">
                <a16:creationId xmlns:a16="http://schemas.microsoft.com/office/drawing/2014/main" id="{2A65A1F1-433D-842C-ED33-95F0AF974DBB}"/>
              </a:ext>
            </a:extLst>
          </p:cNvPr>
          <p:cNvSpPr/>
          <p:nvPr/>
        </p:nvSpPr>
        <p:spPr>
          <a:xfrm>
            <a:off x="8915400" y="4914900"/>
            <a:ext cx="8610600" cy="1447800"/>
          </a:xfrm>
          <a:prstGeom prst="rect">
            <a:avLst/>
          </a:prstGeom>
          <a:noFill/>
          <a:ln w="76200">
            <a:solidFill>
              <a:srgbClr val="CF33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14227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B9AA-11DF-07E9-D10F-D48AA35895E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DFA40A7-39FC-41CC-77EA-1665157EAAEE}"/>
              </a:ext>
            </a:extLst>
          </p:cNvPr>
          <p:cNvSpPr txBox="1"/>
          <p:nvPr/>
        </p:nvSpPr>
        <p:spPr>
          <a:xfrm>
            <a:off x="520861" y="170082"/>
            <a:ext cx="18148139" cy="1323439"/>
          </a:xfrm>
          <a:prstGeom prst="rect">
            <a:avLst/>
          </a:prstGeom>
          <a:noFill/>
        </p:spPr>
        <p:txBody>
          <a:bodyPr wrap="square" rtlCol="0">
            <a:spAutoFit/>
          </a:bodyPr>
          <a:lstStyle/>
          <a:p>
            <a:r>
              <a:rPr lang="en-US" sz="8000" dirty="0">
                <a:latin typeface="Aliens &amp; cows" panose="00000500000000000000" pitchFamily="2" charset="0"/>
              </a:rPr>
              <a:t>The integration-automation AI framework</a:t>
            </a:r>
          </a:p>
        </p:txBody>
      </p:sp>
      <p:sp>
        <p:nvSpPr>
          <p:cNvPr id="3" name="TextBox 2">
            <a:extLst>
              <a:ext uri="{FF2B5EF4-FFF2-40B4-BE49-F238E27FC236}">
                <a16:creationId xmlns:a16="http://schemas.microsoft.com/office/drawing/2014/main" id="{7B5C03DE-34B5-5138-BBDA-CAB910B0E4B6}"/>
              </a:ext>
            </a:extLst>
          </p:cNvPr>
          <p:cNvSpPr txBox="1"/>
          <p:nvPr/>
        </p:nvSpPr>
        <p:spPr>
          <a:xfrm>
            <a:off x="8860" y="9172714"/>
            <a:ext cx="14393120" cy="646331"/>
          </a:xfrm>
          <a:prstGeom prst="rect">
            <a:avLst/>
          </a:prstGeom>
          <a:noFill/>
        </p:spPr>
        <p:txBody>
          <a:bodyPr wrap="square" rtlCol="0">
            <a:spAutoFit/>
          </a:bodyPr>
          <a:lstStyle/>
          <a:p>
            <a:r>
              <a:rPr lang="en-US" sz="3600" dirty="0">
                <a:hlinkClick r:id="rId3">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15" name="Picture 14" descr="A close up of a sign&#10;&#10;Description automatically generated">
            <a:extLst>
              <a:ext uri="{FF2B5EF4-FFF2-40B4-BE49-F238E27FC236}">
                <a16:creationId xmlns:a16="http://schemas.microsoft.com/office/drawing/2014/main" id="{061C0269-AC87-2563-77CD-7723231528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a:extLst>
              <a:ext uri="{FF2B5EF4-FFF2-40B4-BE49-F238E27FC236}">
                <a16:creationId xmlns:a16="http://schemas.microsoft.com/office/drawing/2014/main" id="{9AC67B3E-5FC4-3CB3-963D-F64C18FD4A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91200" y="1552678"/>
            <a:ext cx="8458380" cy="71816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82271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914744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Studying penguins with Copilot</a:t>
            </a:r>
          </a:p>
          <a:p>
            <a:endParaRPr lang="en-US" sz="4200" dirty="0">
              <a:solidFill>
                <a:srgbClr val="CF3338"/>
              </a:solidFill>
              <a:latin typeface="Pragmatica" panose="020B0403040502020204" pitchFamily="34" charset="0"/>
            </a:endParaRPr>
          </a:p>
          <a:p>
            <a:pPr marL="342900" marR="0" lvl="0" indent="-342900">
              <a:lnSpc>
                <a:spcPct val="150000"/>
              </a:lnSpc>
              <a:spcBef>
                <a:spcPts val="0"/>
              </a:spcBef>
              <a:spcAft>
                <a:spcPts val="0"/>
              </a:spcAft>
              <a:buFont typeface="+mj-lt"/>
              <a:buAutoNum type="arabicPeriod"/>
            </a:pPr>
            <a:r>
              <a:rPr lang="en-US" sz="3600" kern="100" dirty="0">
                <a:solidFill>
                  <a:srgbClr val="CF3338"/>
                </a:solidFill>
                <a:latin typeface="Pragmatica" panose="020B0403040502020204"/>
                <a:ea typeface="Aptos" panose="020B0004020202020204" pitchFamily="34" charset="0"/>
                <a:cs typeface="Times New Roman" panose="02020603050405020304" pitchFamily="18" charset="0"/>
              </a:rPr>
              <a:t>Workbook: </a:t>
            </a:r>
            <a:r>
              <a:rPr lang="en-US" sz="3600" kern="100" dirty="0">
                <a:solidFill>
                  <a:srgbClr val="CF3338"/>
                </a:solidFill>
                <a:latin typeface="Consolas" panose="020B0609020204030204" pitchFamily="49" charset="0"/>
                <a:ea typeface="Aptos" panose="020B0004020202020204" pitchFamily="34" charset="0"/>
                <a:cs typeface="Times New Roman" panose="02020603050405020304" pitchFamily="18" charset="0"/>
              </a:rPr>
              <a:t>penguins.xlsx</a:t>
            </a:r>
            <a:endParaRPr lang="en-US" sz="3600" kern="100" dirty="0">
              <a:solidFill>
                <a:srgbClr val="CF3338"/>
              </a:solidFill>
              <a:effectLst/>
              <a:latin typeface="Consolas" panose="020B0609020204030204" pitchFamily="49" charset="0"/>
              <a:ea typeface="Aptos" panose="020B0004020202020204" pitchFamily="34" charset="0"/>
              <a:cs typeface="Times New Roman" panose="02020603050405020304" pitchFamily="18" charset="0"/>
            </a:endParaRP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Getting data Copilot-friendly</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Formatting data as a Table</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Creating calculated columns</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Building summary charts</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Using PivotTables</a:t>
            </a:r>
          </a:p>
          <a:p>
            <a:pPr marL="342900" marR="0" lvl="0" indent="-342900">
              <a:lnSpc>
                <a:spcPct val="150000"/>
              </a:lnSpc>
              <a:spcBef>
                <a:spcPts val="0"/>
              </a:spcBef>
              <a:spcAft>
                <a:spcPts val="0"/>
              </a:spcAft>
              <a:buFont typeface="+mj-lt"/>
              <a:buAutoNum type="arabicPeriod"/>
            </a:pPr>
            <a:r>
              <a:rPr lang="en-US" sz="3600" kern="100" dirty="0">
                <a:solidFill>
                  <a:srgbClr val="CF3338"/>
                </a:solidFill>
                <a:effectLst/>
                <a:latin typeface="Pragmatica" panose="020B0403040502020204"/>
                <a:ea typeface="Aptos" panose="020B0004020202020204" pitchFamily="34" charset="0"/>
                <a:cs typeface="Times New Roman" panose="02020603050405020304" pitchFamily="18" charset="0"/>
              </a:rPr>
              <a:t>Exploring advanced analysis with Python in Excel</a:t>
            </a:r>
          </a:p>
        </p:txBody>
      </p:sp>
    </p:spTree>
    <p:extLst>
      <p:ext uri="{BB962C8B-B14F-4D97-AF65-F5344CB8AC3E}">
        <p14:creationId xmlns:p14="http://schemas.microsoft.com/office/powerpoint/2010/main" val="1679221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49040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endParaRPr lang="en-US" sz="3600" dirty="0">
              <a:solidFill>
                <a:srgbClr val="C00000"/>
              </a:solidFill>
              <a:latin typeface="Consolas" panose="020B0609020204030204" pitchFamily="49" charset="0"/>
              <a:sym typeface="Consolas"/>
            </a:endParaRPr>
          </a:p>
        </p:txBody>
      </p:sp>
    </p:spTree>
    <p:extLst>
      <p:ext uri="{BB962C8B-B14F-4D97-AF65-F5344CB8AC3E}">
        <p14:creationId xmlns:p14="http://schemas.microsoft.com/office/powerpoint/2010/main" val="1296198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757130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AI in Excel is only one layer of the workflow</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You still need to get data in, secure it, and move it across systems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Automate connects Excel logic to real business processes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Dataverse keeps everything consistent so AI can trust your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These tools together make AI reliable, scalable, and production ready</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69688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8ECD-3650-0D5D-E084-2ADF907763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BF29A83-0331-0E10-824A-4833E4760B19}"/>
              </a:ext>
            </a:extLst>
          </p:cNvPr>
          <p:cNvSpPr txBox="1"/>
          <p:nvPr/>
        </p:nvSpPr>
        <p:spPr>
          <a:xfrm>
            <a:off x="520861" y="170082"/>
            <a:ext cx="16700339" cy="1107996"/>
          </a:xfrm>
          <a:prstGeom prst="rect">
            <a:avLst/>
          </a:prstGeom>
          <a:noFill/>
        </p:spPr>
        <p:txBody>
          <a:bodyPr wrap="square" rtlCol="0">
            <a:spAutoFit/>
          </a:bodyPr>
          <a:lstStyle/>
          <a:p>
            <a:r>
              <a:rPr lang="en-US" sz="6600" dirty="0">
                <a:latin typeface="Aliens &amp; cows" panose="00000500000000000000" pitchFamily="2" charset="0"/>
              </a:rPr>
              <a:t>Day 4 preview: Turning analysis into action</a:t>
            </a:r>
          </a:p>
        </p:txBody>
      </p:sp>
      <p:sp>
        <p:nvSpPr>
          <p:cNvPr id="3" name="TextBox 2">
            <a:extLst>
              <a:ext uri="{FF2B5EF4-FFF2-40B4-BE49-F238E27FC236}">
                <a16:creationId xmlns:a16="http://schemas.microsoft.com/office/drawing/2014/main" id="{1F8BFEA8-EC1E-D186-8530-6533D3345701}"/>
              </a:ext>
            </a:extLst>
          </p:cNvPr>
          <p:cNvSpPr txBox="1"/>
          <p:nvPr/>
        </p:nvSpPr>
        <p:spPr>
          <a:xfrm>
            <a:off x="520861" y="20955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Office Scripts automate the clicks and steps you already take in Excel</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Automate turns those scripts into real workflows that run on their own</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Flows push data and results to Teams, Outlook, SharePoint and more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Together they form the execution layer that carries your work beyond the workbook</a:t>
            </a:r>
          </a:p>
        </p:txBody>
      </p:sp>
      <p:pic>
        <p:nvPicPr>
          <p:cNvPr id="15" name="Picture 14" descr="A close up of a sign&#10;&#10;Description automatically generated">
            <a:extLst>
              <a:ext uri="{FF2B5EF4-FFF2-40B4-BE49-F238E27FC236}">
                <a16:creationId xmlns:a16="http://schemas.microsoft.com/office/drawing/2014/main" id="{49376407-AE9F-CCBA-4232-9DA21ADE63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946292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3885</TotalTime>
  <Words>1108</Words>
  <Application>Microsoft Office PowerPoint</Application>
  <PresentationFormat>Custom</PresentationFormat>
  <Paragraphs>98</Paragraphs>
  <Slides>12</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Consolas</vt:lpstr>
      <vt:lpstr>Pragmatica</vt:lpstr>
      <vt:lpstr>Aliens &amp; cows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236</cp:revision>
  <dcterms:created xsi:type="dcterms:W3CDTF">2006-08-16T00:00:00Z</dcterms:created>
  <dcterms:modified xsi:type="dcterms:W3CDTF">2025-11-21T16:47:53Z</dcterms:modified>
  <dc:identifier>DADurESpNu8</dc:identifier>
</cp:coreProperties>
</file>