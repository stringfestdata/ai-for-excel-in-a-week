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256" r:id="rId2"/>
    <p:sldId id="455" r:id="rId3"/>
    <p:sldId id="475" r:id="rId4"/>
    <p:sldId id="471" r:id="rId5"/>
    <p:sldId id="439" r:id="rId6"/>
    <p:sldId id="428" r:id="rId7"/>
    <p:sldId id="440" r:id="rId8"/>
    <p:sldId id="441" r:id="rId9"/>
    <p:sldId id="474" r:id="rId10"/>
    <p:sldId id="473" r:id="rId11"/>
    <p:sldId id="415" r:id="rId12"/>
    <p:sldId id="470" r:id="rId13"/>
  </p:sldIdLst>
  <p:sldSz cx="18288000" cy="10287000"/>
  <p:notesSz cx="6858000" cy="9144000"/>
  <p:embeddedFontLst>
    <p:embeddedFont>
      <p:font typeface="Consolas" panose="020B0609020204030204" pitchFamily="49" charset="0"/>
      <p:regular r:id="rId15"/>
      <p:bold r:id="rId16"/>
      <p:italic r:id="rId17"/>
      <p:boldItalic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78463" autoAdjust="0"/>
  </p:normalViewPr>
  <p:slideViewPr>
    <p:cSldViewPr>
      <p:cViewPr varScale="1">
        <p:scale>
          <a:sx n="33" d="100"/>
          <a:sy n="33" d="100"/>
        </p:scale>
        <p:origin x="779"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1117"/>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“Yesterday we started by looking at why messy data structures — like those quarterly columns — completely break AI tools. Copilot couldn’t answer even simple questions because the layout wasn’t machine-friendly.”</a:t>
            </a:r>
          </a:p>
          <a:p>
            <a:r>
              <a:rPr lang="en-US" dirty="0"/>
              <a:t>“We used Copilot to help us </a:t>
            </a:r>
            <a:r>
              <a:rPr lang="en-US" i="1" dirty="0"/>
              <a:t>diagnose</a:t>
            </a:r>
            <a:r>
              <a:rPr lang="en-US" dirty="0"/>
              <a:t> those issues, but not to fix them. Copilot is great at spotting potential problems, but the real cleanup still happens in Power Query.”</a:t>
            </a:r>
          </a:p>
          <a:p>
            <a:r>
              <a:rPr lang="en-US" dirty="0"/>
              <a:t>“Once we had our Power Query steps in place, we brought Copilot back in to help tidy and reorganize our M code. It can’t click around in the interface, but it’s excellent at making scripts cleaner and easier to maintain.”</a:t>
            </a:r>
          </a:p>
          <a:p>
            <a:r>
              <a:rPr lang="en-US" dirty="0"/>
              <a:t>“After that, we lifted the entire cleaning workflow into a Dataflow. This is the shift from ‘cleaning one workbook’ to ‘cleaning the data source for everyone,’ automatically, in the cloud.”</a:t>
            </a:r>
          </a:p>
          <a:p>
            <a:r>
              <a:rPr lang="en-US" dirty="0"/>
              <a:t>“And finally, we published that cleaned output as a governed Dataverse table. Now the data is structured, refreshed, and ready for Excel, Power BI, Copilot, Power Automate, and everything else we build this week.”</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3</a:t>
            </a:fld>
            <a:endParaRPr lang="en-US"/>
          </a:p>
        </p:txBody>
      </p:sp>
    </p:spTree>
    <p:extLst>
      <p:ext uri="{BB962C8B-B14F-4D97-AF65-F5344CB8AC3E}">
        <p14:creationId xmlns:p14="http://schemas.microsoft.com/office/powerpoint/2010/main" val="18402908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spectrum of AI tools based on two dimensions: how deeply they’re integrated into your workflow, and how much they can automate on their own.</a:t>
            </a:r>
          </a:p>
          <a:p>
            <a:endParaRPr lang="en-US" dirty="0"/>
          </a:p>
          <a:p>
            <a:r>
              <a:rPr lang="en-US" dirty="0"/>
              <a:t>In the bottom left, we have </a:t>
            </a:r>
            <a:r>
              <a:rPr lang="en-US" b="1" dirty="0"/>
              <a:t>Assistants</a:t>
            </a:r>
            <a:r>
              <a:rPr lang="en-US" dirty="0"/>
              <a:t> like ChatGPT or Bard. These tools are conversational and flexible, but they exist outside your main work environment. They can generate ideas, write text, or help explain concepts, but you have to feed them the context yourself. They don’t automatically connect to your files or data.</a:t>
            </a:r>
          </a:p>
          <a:p>
            <a:endParaRPr lang="en-US" dirty="0"/>
          </a:p>
          <a:p>
            <a:r>
              <a:rPr lang="en-US" dirty="0"/>
              <a:t>Moving up to the top left are </a:t>
            </a:r>
            <a:r>
              <a:rPr lang="en-US" b="1" dirty="0"/>
              <a:t>Copilots</a:t>
            </a:r>
            <a:r>
              <a:rPr lang="en-US" dirty="0"/>
              <a:t>, like Microsoft Copilot in Excel. These tools are highly integrated into your daily work tools. Copilot in Excel knows your workbook, formulas, and tables. It can help you analyze data, write formulas, and generate summaries—all inside Excel. But it’s still assistive, not autonomous. You’re in control, and it only acts when you prompt it.</a:t>
            </a:r>
          </a:p>
          <a:p>
            <a:r>
              <a:rPr lang="en-US" dirty="0"/>
              <a:t>On the bottom right are </a:t>
            </a:r>
            <a:r>
              <a:rPr lang="en-US" b="1" dirty="0"/>
              <a:t>Autopilots</a:t>
            </a:r>
            <a:r>
              <a:rPr lang="en-US" dirty="0"/>
              <a:t>, which handle repetitive processes automatically but without much awareness of your data. These might include automated social media posting or simple scheduled tasks. They act independently but lack real integration with your work context.</a:t>
            </a:r>
          </a:p>
          <a:p>
            <a:endParaRPr lang="en-US" dirty="0"/>
          </a:p>
          <a:p>
            <a:r>
              <a:rPr lang="en-US" dirty="0"/>
              <a:t>Finally, in the top right are </a:t>
            </a:r>
            <a:r>
              <a:rPr lang="en-US" b="1" dirty="0"/>
              <a:t>Agents</a:t>
            </a:r>
            <a:r>
              <a:rPr lang="en-US" dirty="0"/>
              <a:t>. These combine deep integration with high automation. Agents can understand your business data and act proactively—like automatically generating reports, summarizing meetings, or triggering workflows across apps.</a:t>
            </a:r>
          </a:p>
          <a:p>
            <a:endParaRPr lang="en-US" dirty="0"/>
          </a:p>
          <a:p>
            <a:r>
              <a:rPr lang="en-US" b="1" dirty="0"/>
              <a:t>Copilot in Excel</a:t>
            </a:r>
            <a:r>
              <a:rPr lang="en-US" dirty="0"/>
              <a:t> sits in the “Copilot” quadrant—it’s deeply embedded in your tools but still relies on you to guide it. </a:t>
            </a:r>
            <a:r>
              <a:rPr lang="en-US" b="1" dirty="0"/>
              <a:t>Agent Mode</a:t>
            </a:r>
            <a:r>
              <a:rPr lang="en-US" dirty="0"/>
              <a:t> is what happens when that same intelligence gains the ability to take initiative. It builds on Copilot’s understanding of your data but can connect across multiple apps and act without waiting for your command.</a:t>
            </a:r>
          </a:p>
          <a:p>
            <a:endParaRPr lang="en-US" dirty="0"/>
          </a:p>
          <a:p>
            <a:r>
              <a:rPr lang="en-US" dirty="0"/>
              <a:t>In short, Copilot helps you do the work; Agent Mode will start doing the work for you.</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8281315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38643298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8</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in Excel is powerful, but it’s only one layer of the overall workflow. Copilot can help you analyze and reason over your data, but it can’t fix the upstream problems or manage the downstream processes on its own.”</a:t>
            </a:r>
          </a:p>
          <a:p>
            <a:r>
              <a:rPr lang="en-US" dirty="0"/>
              <a:t>“You still need a way to bring data in, secure it, and move it across systems reliably. That’s where the rest of the Power Platform comes in — AI is only as good as the ecosystem around it.”</a:t>
            </a:r>
          </a:p>
          <a:p>
            <a:r>
              <a:rPr lang="en-US" dirty="0"/>
              <a:t>“Power Automate is what connects your Excel logic to real business processes. It takes the insights you generate and turns them into actions: notifications, approvals, file handling, updates, and so on.”</a:t>
            </a:r>
          </a:p>
          <a:p>
            <a:r>
              <a:rPr lang="en-US" dirty="0"/>
              <a:t>“Dataverse keeps everything consistent so AI can actually trust your data. When the structure, permissions, and relationships are defined in Dataverse, Copilot doesn’t have to guess — it knows exactly what it’s working with.”</a:t>
            </a:r>
          </a:p>
          <a:p>
            <a:r>
              <a:rPr lang="en-US" dirty="0"/>
              <a:t>“When you use these tools together — Excel, Dataverse, Power Automate, and AI — you’re not just running analyses. You’re building workflows that are reliable, scalable, and ready for real production use.”</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1354516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“Office Scripts let you automate the exact clicks and steps you already take in Excel. Instead of repeating the same manual actions every day or every week, you capture them once and reuse them whenever you need.”</a:t>
            </a:r>
          </a:p>
          <a:p>
            <a:endParaRPr lang="en-US" dirty="0"/>
          </a:p>
          <a:p>
            <a:r>
              <a:rPr lang="en-US" dirty="0"/>
              <a:t>“Power Automate takes those scripts and turns them into real workflows that run on their own. Now your Excel logic doesn’t depend on you opening a file — it can fire based on a schedule, a trigger, or an event somewhere else in the system.”</a:t>
            </a:r>
          </a:p>
          <a:p>
            <a:endParaRPr lang="en-US" dirty="0"/>
          </a:p>
          <a:p>
            <a:r>
              <a:rPr lang="en-US" dirty="0"/>
              <a:t>“Those flows can then push data and results to Teams, Outlook, SharePoint, and other business tools. Your work doesn’t stay trapped inside a workbook — it becomes part of a larger </a:t>
            </a:r>
            <a:r>
              <a:rPr lang="en-US"/>
              <a:t>process.”</a:t>
            </a:r>
          </a:p>
          <a:p>
            <a:endParaRPr lang="en-US" dirty="0"/>
          </a:p>
          <a:p>
            <a:r>
              <a:rPr lang="en-US" dirty="0"/>
              <a:t>“And together, Office Scripts and Power Automate form the execution layer. This is what carries your work beyond Excel, connecting it to the rest of the organization so your automations actually make an impact.”</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10</a:t>
            </a:fld>
            <a:endParaRPr lang="en-US"/>
          </a:p>
        </p:txBody>
      </p:sp>
    </p:spTree>
    <p:extLst>
      <p:ext uri="{BB962C8B-B14F-4D97-AF65-F5344CB8AC3E}">
        <p14:creationId xmlns:p14="http://schemas.microsoft.com/office/powerpoint/2010/main" val="2175846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stringfestanalytics.com/how-to-understand-the-modern-excel-ai-stack/" TargetMode="External"/><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hyperlink" Target="https://blog.tobiaszwingmann.com/p/integration-automation-ai-framework"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3: The Excel Intelligence Layer – Copilot, Python, Agent Mode</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files used and communication will be on Teams channel</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 sure to use your email used to sign up for the course!</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me with 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a:latin typeface="Aliens &amp; cows" panose="00000500000000000000" pitchFamily="2" charset="0"/>
              </a:rPr>
              <a:t>Day 2 </a:t>
            </a:r>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590931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Saw why messy data breaks AI</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Used Copilot to diagnose issues (but not fix them)</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Use Copilot to tidy our M code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Pushed the cleaning logic into a Dataflow</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Published a clean, governed table into Dataverse</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133890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
        <p:nvSpPr>
          <p:cNvPr id="2" name="Rectangle 1">
            <a:extLst>
              <a:ext uri="{FF2B5EF4-FFF2-40B4-BE49-F238E27FC236}">
                <a16:creationId xmlns:a16="http://schemas.microsoft.com/office/drawing/2014/main" id="{2A65A1F1-433D-842C-ED33-95F0AF974DBB}"/>
              </a:ext>
            </a:extLst>
          </p:cNvPr>
          <p:cNvSpPr/>
          <p:nvPr/>
        </p:nvSpPr>
        <p:spPr>
          <a:xfrm>
            <a:off x="8915400" y="4914900"/>
            <a:ext cx="8610600" cy="14478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B9AA-11DF-07E9-D10F-D48AA35895E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DFA40A7-39FC-41CC-77EA-1665157EAAEE}"/>
              </a:ext>
            </a:extLst>
          </p:cNvPr>
          <p:cNvSpPr txBox="1"/>
          <p:nvPr/>
        </p:nvSpPr>
        <p:spPr>
          <a:xfrm>
            <a:off x="520861" y="170082"/>
            <a:ext cx="18148139" cy="1323439"/>
          </a:xfrm>
          <a:prstGeom prst="rect">
            <a:avLst/>
          </a:prstGeom>
          <a:noFill/>
        </p:spPr>
        <p:txBody>
          <a:bodyPr wrap="square" rtlCol="0">
            <a:spAutoFit/>
          </a:bodyPr>
          <a:lstStyle/>
          <a:p>
            <a:r>
              <a:rPr lang="en-US" sz="8000" dirty="0">
                <a:latin typeface="Aliens &amp; cows" panose="00000500000000000000" pitchFamily="2" charset="0"/>
              </a:rPr>
              <a:t>The integration-automation AI framework</a:t>
            </a:r>
          </a:p>
        </p:txBody>
      </p:sp>
      <p:sp>
        <p:nvSpPr>
          <p:cNvPr id="3" name="TextBox 2">
            <a:extLst>
              <a:ext uri="{FF2B5EF4-FFF2-40B4-BE49-F238E27FC236}">
                <a16:creationId xmlns:a16="http://schemas.microsoft.com/office/drawing/2014/main" id="{7B5C03DE-34B5-5138-BBDA-CAB910B0E4B6}"/>
              </a:ext>
            </a:extLst>
          </p:cNvPr>
          <p:cNvSpPr txBox="1"/>
          <p:nvPr/>
        </p:nvSpPr>
        <p:spPr>
          <a:xfrm>
            <a:off x="8860" y="9172714"/>
            <a:ext cx="14393120" cy="646331"/>
          </a:xfrm>
          <a:prstGeom prst="rect">
            <a:avLst/>
          </a:prstGeom>
          <a:noFill/>
        </p:spPr>
        <p:txBody>
          <a:bodyPr wrap="square" rtlCol="0">
            <a:spAutoFit/>
          </a:bodyPr>
          <a:lstStyle/>
          <a:p>
            <a:r>
              <a:rPr lang="en-US" sz="3600" dirty="0">
                <a:hlinkClick r:id="rId3">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15" name="Picture 14" descr="A close up of a sign&#10;&#10;Description automatically generated">
            <a:extLst>
              <a:ext uri="{FF2B5EF4-FFF2-40B4-BE49-F238E27FC236}">
                <a16:creationId xmlns:a16="http://schemas.microsoft.com/office/drawing/2014/main" id="{061C0269-AC87-2563-77CD-7723231528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a:extLst>
              <a:ext uri="{FF2B5EF4-FFF2-40B4-BE49-F238E27FC236}">
                <a16:creationId xmlns:a16="http://schemas.microsoft.com/office/drawing/2014/main" id="{9AC67B3E-5FC4-3CB3-963D-F64C18FD4A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91200" y="1552678"/>
            <a:ext cx="8458380" cy="71816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8227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914744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Studying penguins with Copilot</a:t>
            </a:r>
          </a:p>
          <a:p>
            <a:endParaRPr lang="en-US" sz="4200" dirty="0">
              <a:solidFill>
                <a:srgbClr val="CF3338"/>
              </a:solidFill>
              <a:latin typeface="Pragmatica" panose="020B0403040502020204" pitchFamily="34" charset="0"/>
            </a:endParaRPr>
          </a:p>
          <a:p>
            <a:pPr marL="342900" marR="0" lvl="0" indent="-342900">
              <a:lnSpc>
                <a:spcPct val="150000"/>
              </a:lnSpc>
              <a:spcBef>
                <a:spcPts val="0"/>
              </a:spcBef>
              <a:spcAft>
                <a:spcPts val="0"/>
              </a:spcAft>
              <a:buFont typeface="+mj-lt"/>
              <a:buAutoNum type="arabicPeriod"/>
            </a:pPr>
            <a:r>
              <a:rPr lang="en-US" sz="3600" kern="100" dirty="0">
                <a:solidFill>
                  <a:srgbClr val="CF3338"/>
                </a:solidFill>
                <a:latin typeface="Pragmatica" panose="020B0403040502020204"/>
                <a:ea typeface="Aptos" panose="020B0004020202020204" pitchFamily="34" charset="0"/>
                <a:cs typeface="Times New Roman" panose="02020603050405020304" pitchFamily="18" charset="0"/>
              </a:rPr>
              <a:t>Workbook: </a:t>
            </a:r>
            <a:r>
              <a:rPr lang="en-US" sz="3600" kern="100" dirty="0">
                <a:solidFill>
                  <a:srgbClr val="CF3338"/>
                </a:solidFill>
                <a:latin typeface="Consolas" panose="020B0609020204030204" pitchFamily="49" charset="0"/>
                <a:ea typeface="Aptos" panose="020B0004020202020204" pitchFamily="34" charset="0"/>
                <a:cs typeface="Times New Roman" panose="02020603050405020304" pitchFamily="18" charset="0"/>
              </a:rPr>
              <a:t>penguins.xlsx</a:t>
            </a:r>
            <a:endParaRPr lang="en-US" sz="3600" kern="100" dirty="0">
              <a:solidFill>
                <a:srgbClr val="CF3338"/>
              </a:solidFill>
              <a:effectLst/>
              <a:latin typeface="Consolas" panose="020B0609020204030204" pitchFamily="49" charset="0"/>
              <a:ea typeface="Aptos" panose="020B0004020202020204" pitchFamily="34" charset="0"/>
              <a:cs typeface="Times New Roman" panose="02020603050405020304" pitchFamily="18" charset="0"/>
            </a:endParaRP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Getting data Copilot-friendly</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Formatting data as a Table</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Creating calculated columns</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Building summary charts</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Using PivotTables</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Exploring advanced analysis with Python in Excel</a:t>
            </a:r>
          </a:p>
        </p:txBody>
      </p:sp>
    </p:spTree>
    <p:extLst>
      <p:ext uri="{BB962C8B-B14F-4D97-AF65-F5344CB8AC3E}">
        <p14:creationId xmlns:p14="http://schemas.microsoft.com/office/powerpoint/2010/main" val="1679221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1296198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757130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in Excel is only one layer of the workflow</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You still need to get data in, secure it, and move it across systems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Automate connects Excel logic to real business processes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Dataverse keeps everything consistent so AI can trust your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These tools together make AI reliable, scalable, and production ready</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Day 4 preview: Turning analysis into action</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Office Scripts automate the clicks and steps you already take in Excel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Automate turns those scripts into real workflows that run on their own</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Flows push data and results to Teams, Outlook, SharePoint and more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Together they form the execution layer that carries your work beyond the workbook</a:t>
            </a:r>
          </a:p>
        </p:txBody>
      </p:sp>
      <p:pic>
        <p:nvPicPr>
          <p:cNvPr id="15" name="Picture 14" descr="A close up of a sign&#10;&#10;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3892</TotalTime>
  <Words>1680</Words>
  <Application>Microsoft Office PowerPoint</Application>
  <PresentationFormat>Custom</PresentationFormat>
  <Paragraphs>118</Paragraphs>
  <Slides>12</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Consolas</vt:lpstr>
      <vt:lpstr>Pragmatica</vt:lpstr>
      <vt:lpstr>Aliens &amp; cows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237</cp:revision>
  <dcterms:created xsi:type="dcterms:W3CDTF">2006-08-16T00:00:00Z</dcterms:created>
  <dcterms:modified xsi:type="dcterms:W3CDTF">2025-12-01T18:45:06Z</dcterms:modified>
  <dc:identifier>DADurESpNu8</dc:identifier>
</cp:coreProperties>
</file>