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455" r:id="rId3"/>
    <p:sldId id="474" r:id="rId4"/>
    <p:sldId id="471" r:id="rId5"/>
    <p:sldId id="475" r:id="rId6"/>
    <p:sldId id="407" r:id="rId7"/>
    <p:sldId id="472" r:id="rId8"/>
    <p:sldId id="473" r:id="rId9"/>
    <p:sldId id="415" r:id="rId10"/>
    <p:sldId id="470" r:id="rId11"/>
  </p:sldIdLst>
  <p:sldSz cx="18288000" cy="10287000"/>
  <p:notesSz cx="6858000" cy="9144000"/>
  <p:embeddedFontLst>
    <p:embeddedFont>
      <p:font typeface="Consolas" panose="020B0609020204030204" pitchFamily="49" charset="0"/>
      <p:regular r:id="rId13"/>
      <p:bold r:id="rId14"/>
      <p:italic r:id="rId15"/>
      <p:bold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8463" autoAdjust="0"/>
  </p:normalViewPr>
  <p:slideViewPr>
    <p:cSldViewPr>
      <p:cViewPr varScale="1">
        <p:scale>
          <a:sx n="33" d="100"/>
          <a:sy n="33" d="100"/>
        </p:scale>
        <p:origin x="779" y="387"/>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“Before we jump into today’s work, let’s just ground ourselves in what we covered yesterday.”</a:t>
            </a:r>
            <a:endParaRPr lang="en-US" dirty="0"/>
          </a:p>
          <a:p>
            <a:r>
              <a:rPr lang="en-US" b="1" dirty="0"/>
              <a:t>1. We connected Excel to Power BI and Dataverse.</a:t>
            </a:r>
            <a:br>
              <a:rPr lang="en-US" dirty="0"/>
            </a:br>
            <a:r>
              <a:rPr lang="en-US" dirty="0"/>
              <a:t>We looked at the </a:t>
            </a:r>
            <a:r>
              <a:rPr lang="en-US" i="1" dirty="0"/>
              <a:t>two</a:t>
            </a:r>
            <a:r>
              <a:rPr lang="en-US" dirty="0"/>
              <a:t> main ways Excel talks to enterprise data now:</a:t>
            </a:r>
          </a:p>
          <a:p>
            <a:r>
              <a:rPr lang="en-US" dirty="0"/>
              <a:t>Directly to a </a:t>
            </a:r>
            <a:r>
              <a:rPr lang="en-US" b="1" dirty="0"/>
              <a:t>Power BI semantic model</a:t>
            </a:r>
            <a:endParaRPr lang="en-US" dirty="0"/>
          </a:p>
          <a:p>
            <a:r>
              <a:rPr lang="en-US" dirty="0"/>
              <a:t>Directly to </a:t>
            </a:r>
            <a:r>
              <a:rPr lang="en-US" b="1" dirty="0"/>
              <a:t>Dataverse tables</a:t>
            </a:r>
            <a:br>
              <a:rPr lang="en-US" dirty="0"/>
            </a:br>
            <a:r>
              <a:rPr lang="en-US" dirty="0"/>
              <a:t>And we saw how those two experiences behave differently depending on whether you’re pulling governed, modeled data or raw operational data.</a:t>
            </a:r>
          </a:p>
          <a:p>
            <a:r>
              <a:rPr lang="en-US" b="1" dirty="0"/>
              <a:t>2. We moved data through the full loop: Excel → Power BI → back into Excel.</a:t>
            </a:r>
            <a:br>
              <a:rPr lang="en-US" dirty="0"/>
            </a:br>
            <a:r>
              <a:rPr lang="en-US" dirty="0"/>
              <a:t>The goal here wasn’t the novelty — it was to show the modern workflow.</a:t>
            </a:r>
            <a:br>
              <a:rPr lang="en-US" dirty="0"/>
            </a:br>
            <a:r>
              <a:rPr lang="en-US" dirty="0"/>
              <a:t>Your data doesn’t have to live in one place anymore.</a:t>
            </a:r>
            <a:br>
              <a:rPr lang="en-US" dirty="0"/>
            </a:br>
            <a:r>
              <a:rPr lang="en-US" dirty="0"/>
              <a:t>Excel isn’t just a destination; it’s a </a:t>
            </a:r>
            <a:r>
              <a:rPr lang="en-US" i="1" dirty="0"/>
              <a:t>client</a:t>
            </a:r>
            <a:r>
              <a:rPr lang="en-US" dirty="0"/>
              <a:t> to richer data sources.</a:t>
            </a:r>
          </a:p>
          <a:p>
            <a:r>
              <a:rPr lang="en-US" b="1" dirty="0"/>
              <a:t>3. We introduced semantic models as the “shared truth.”</a:t>
            </a:r>
            <a:br>
              <a:rPr lang="en-US" dirty="0"/>
            </a:br>
            <a:r>
              <a:rPr lang="en-US" dirty="0"/>
              <a:t>Instead of everyone rebuilding the same metrics or cleaning the same tables in their own files, a semantic model gives you:</a:t>
            </a:r>
          </a:p>
          <a:p>
            <a:r>
              <a:rPr lang="en-US" dirty="0"/>
              <a:t>one place to define logic</a:t>
            </a:r>
          </a:p>
          <a:p>
            <a:r>
              <a:rPr lang="en-US" dirty="0"/>
              <a:t>one place to enforce relationships</a:t>
            </a:r>
          </a:p>
          <a:p>
            <a:r>
              <a:rPr lang="en-US" dirty="0"/>
              <a:t>one place to control access</a:t>
            </a:r>
            <a:br>
              <a:rPr lang="en-US" dirty="0"/>
            </a:br>
            <a:r>
              <a:rPr lang="en-US" dirty="0"/>
              <a:t>And Excel becomes a consumer of that consistent model.</a:t>
            </a:r>
          </a:p>
          <a:p>
            <a:r>
              <a:rPr lang="en-US" b="1" dirty="0"/>
              <a:t>4. We tied all of this to AI.</a:t>
            </a:r>
            <a:br>
              <a:rPr lang="en-US" dirty="0"/>
            </a:br>
            <a:r>
              <a:rPr lang="en-US" dirty="0"/>
              <a:t>Clean, well-modeled, cloud-based data performs dramatically better with AI.</a:t>
            </a:r>
            <a:br>
              <a:rPr lang="en-US" dirty="0"/>
            </a:br>
            <a:r>
              <a:rPr lang="en-US" dirty="0"/>
              <a:t>Copilot, Analyze Data, Python in Excel — all of this works best when the source data is:</a:t>
            </a:r>
          </a:p>
          <a:p>
            <a:r>
              <a:rPr lang="en-US" dirty="0"/>
              <a:t>structured</a:t>
            </a:r>
          </a:p>
          <a:p>
            <a:r>
              <a:rPr lang="en-US" dirty="0"/>
              <a:t>governed</a:t>
            </a:r>
          </a:p>
          <a:p>
            <a:r>
              <a:rPr lang="en-US" dirty="0"/>
              <a:t>refreshable</a:t>
            </a:r>
          </a:p>
          <a:p>
            <a:r>
              <a:rPr lang="en-US" dirty="0"/>
              <a:t>not living inside someone’s Downloads folder</a:t>
            </a:r>
          </a:p>
          <a:p>
            <a:r>
              <a:rPr lang="en-US" b="1" dirty="0"/>
              <a:t>That was the whole point of Day 1:</a:t>
            </a:r>
            <a:br>
              <a:rPr lang="en-US" dirty="0"/>
            </a:br>
            <a:r>
              <a:rPr lang="en-US" i="1" dirty="0"/>
              <a:t>Modern Excel isn’t just Excel — it’s Excel plugged into the organization’s data ecosystem.</a:t>
            </a:r>
            <a:endParaRPr lang="en-US" dirty="0"/>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3</a:t>
            </a:fld>
            <a:endParaRPr lang="en-US"/>
          </a:p>
        </p:txBody>
      </p:sp>
    </p:spTree>
    <p:extLst>
      <p:ext uri="{BB962C8B-B14F-4D97-AF65-F5344CB8AC3E}">
        <p14:creationId xmlns:p14="http://schemas.microsoft.com/office/powerpoint/2010/main" val="196549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we’re going to build on everything from Day 1 by focusing on one of the most important skills in modern Excel: cleaning and structuring data so AI can actually work with it. We’ll start with a quick review of the kinds of messy, real-world data problems that show up in everyone’s spreadsheets. Before we fix anything, I want you to see why these issues matter.”</a:t>
            </a:r>
          </a:p>
          <a:p>
            <a:r>
              <a:rPr lang="en-US" dirty="0"/>
              <a:t>“We’ll then use Analyze Data to compare how Copilot behaves with the messy version versus the cleaned version. This isn’t about getting perfect answers — it’s about understanding that AI tools perform dramatically better when the data is tidy, consistent, and well-structured.”</a:t>
            </a:r>
          </a:p>
          <a:p>
            <a:r>
              <a:rPr lang="en-US" dirty="0"/>
              <a:t>“After that, we’ll jump into Power Query and apply the core transformations that every analyst should know: unpivoting, splitting and merging fields, fixing data types, and giving things clean, predictable names. These are the fundamental steps that make data usable not just for Excel, but across the entire Microsoft ecosystem.”</a:t>
            </a:r>
          </a:p>
          <a:p>
            <a:r>
              <a:rPr lang="en-US" dirty="0"/>
              <a:t>“Once we have a workflow that works locally, we’ll take the next step and push that cleaning logic up into a Dataflow. This is where the mindset shifts. Power Query in Excel only cleans the file on your machine; Dataflows clean the data source in the cloud for everyone. Your work becomes reusable, refreshable, and centrally managed.”</a:t>
            </a:r>
          </a:p>
          <a:p>
            <a:r>
              <a:rPr lang="en-US" dirty="0"/>
              <a:t>“At the end of that Dataflow, the cleaned table lands in Dataverse. Now the data isn’t just cleaned — it’s governed, secure, and available to Excel, Power BI, Copilot, Power Apps, Teams, and the rest of the Power Platform. Instead of everyone maintaining their own version of the same spreadsheet, you have one authoritative table feeding the whole organization.”</a:t>
            </a:r>
          </a:p>
          <a:p>
            <a:r>
              <a:rPr lang="en-US" dirty="0"/>
              <a:t>“And finally, everything we do today sets the stage for what comes next: building Copilot Studio agents and workflows in the Power Platform. Those tools depend on clean, cloud-based data. By the end of today, you’ll have the foundation in place for the automations and AI experiences we’ll create later in the week.”</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5</a:t>
            </a:fld>
            <a:endParaRPr lang="en-US"/>
          </a:p>
        </p:txBody>
      </p:sp>
    </p:spTree>
    <p:extLst>
      <p:ext uri="{BB962C8B-B14F-4D97-AF65-F5344CB8AC3E}">
        <p14:creationId xmlns:p14="http://schemas.microsoft.com/office/powerpoint/2010/main" val="3059298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1300335D-9F13-4B80-ADC5-B0EA3E10FF6B}" type="slidenum">
              <a:rPr lang="en-US" smtClean="0"/>
              <a:t>6</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all of this actually mean for AI? It’s simple: AI tools don’t thrive on one-off cleanup. They need consistent, well-defined tables that look the same every time they refresh. Copilot, Analyze Data, Python in Excel — they all assume the underlying structure is stable and predictable.”</a:t>
            </a:r>
          </a:p>
          <a:p>
            <a:endParaRPr lang="en-US" dirty="0"/>
          </a:p>
          <a:p>
            <a:r>
              <a:rPr lang="en-US" dirty="0"/>
              <a:t>“That’s why Dataflows matter so much. When you move your cleaning logic into a Dataflow, you’re giving Copilot Studio a reliable, governed input it can reason over and take action on. Instead of guessing what the data looks like today, it knows exactly what shape it’s getting every time.”</a:t>
            </a:r>
          </a:p>
          <a:p>
            <a:endParaRPr lang="en-US" dirty="0"/>
          </a:p>
          <a:p>
            <a:r>
              <a:rPr lang="en-US" dirty="0"/>
              <a:t>“And this is the bigger message: you cannot build strong copilots without strong data foundations. Great AI experiences don’t start with prompts — they start with clean, structured, cloud-based data. Everything we’re doing today is setting up the foundation for smarter, more powerful copilots later in the week.”</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7</a:t>
            </a:fld>
            <a:endParaRPr lang="en-US"/>
          </a:p>
        </p:txBody>
      </p:sp>
    </p:spTree>
    <p:extLst>
      <p:ext uri="{BB962C8B-B14F-4D97-AF65-F5344CB8AC3E}">
        <p14:creationId xmlns:p14="http://schemas.microsoft.com/office/powerpoint/2010/main" val="2133288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“Tomorrow we shift from cleanup into actual analysis, and we bring the full AI stack into play. We’ll start by using Copilot directly inside Excel to generate formulas, build charts, and surface insights. This is where you’ll see how much faster your analysis becomes once the data is clean and structured.”</a:t>
            </a:r>
          </a:p>
          <a:p>
            <a:r>
              <a:rPr lang="en-US" dirty="0"/>
              <a:t>“We’ll also introduce Python in Excel for analytics, modeling, and forecasting. You don’t have to be a programmer to benefit from this — we’ll use Python the same way you use a function or a chart: as another tool for deeper, more flexible analysis.”</a:t>
            </a:r>
          </a:p>
          <a:p>
            <a:r>
              <a:rPr lang="en-US" dirty="0"/>
              <a:t>“And finally, we’ll look at Agent Mode in Excel and how it handles multi-step analytical tasks. Instead of prompting Copilot one step at a time, you’ll start to see how agents can plan, reason, and execute a whole workflow on your behalf.”</a:t>
            </a:r>
          </a:p>
          <a:p>
            <a:r>
              <a:rPr lang="en-US" dirty="0"/>
              <a:t>“Day 3 is where everything comes together: Copilot, Python, and agentic workflows working on top of the clean, governed data we built today.”</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8</a:t>
            </a:fld>
            <a:endParaRPr lang="en-US"/>
          </a:p>
        </p:txBody>
      </p:sp>
    </p:spTree>
    <p:extLst>
      <p:ext uri="{BB962C8B-B14F-4D97-AF65-F5344CB8AC3E}">
        <p14:creationId xmlns:p14="http://schemas.microsoft.com/office/powerpoint/2010/main" val="1190401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stringfestanalytics.com/how-to-understand-the-modern-excel-ai-stack/" TargetMode="External"/><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2585323"/>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AI for Excel in a Week</a:t>
            </a:r>
          </a:p>
          <a:p>
            <a:r>
              <a:rPr lang="en-US" sz="5400" b="1" dirty="0">
                <a:solidFill>
                  <a:srgbClr val="CF3338"/>
                </a:solidFill>
                <a:latin typeface="Pragmatica" panose="020B0403040502020204" pitchFamily="34" charset="0"/>
              </a:rPr>
              <a:t>Day 2: Power Query and Dataflows – The Preparation Layer</a:t>
            </a: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6697A-2DDC-AD06-0D5F-524946CCFA3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E25D70B-1F78-7AF8-4771-7B64B436CB0F}"/>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Class logistics</a:t>
            </a:r>
          </a:p>
        </p:txBody>
      </p:sp>
      <p:sp>
        <p:nvSpPr>
          <p:cNvPr id="3" name="TextBox 2">
            <a:extLst>
              <a:ext uri="{FF2B5EF4-FFF2-40B4-BE49-F238E27FC236}">
                <a16:creationId xmlns:a16="http://schemas.microsoft.com/office/drawing/2014/main" id="{8AD5976A-E96C-DF78-2D1D-42CD64D3E69F}"/>
              </a:ext>
            </a:extLst>
          </p:cNvPr>
          <p:cNvSpPr txBox="1"/>
          <p:nvPr/>
        </p:nvSpPr>
        <p:spPr>
          <a:xfrm>
            <a:off x="520861" y="3191948"/>
            <a:ext cx="14393120" cy="507831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All recordings, files used and communication will be on Teams channel</a:t>
            </a:r>
          </a:p>
          <a:p>
            <a:pPr marL="1143000" lvl="1"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Be sure to use your email used to sign up for the course!</a:t>
            </a:r>
          </a:p>
          <a:p>
            <a:pPr marL="1143000" lvl="1"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Email me with any questions: </a:t>
            </a:r>
            <a:r>
              <a:rPr lang="en-US" sz="5400" b="1" dirty="0">
                <a:solidFill>
                  <a:srgbClr val="707070"/>
                </a:solidFill>
                <a:latin typeface="Pragmatica" panose="020B0403040502020204" pitchFamily="34" charset="0"/>
              </a:rPr>
              <a:t>george@stringfestanalytics.com </a:t>
            </a:r>
          </a:p>
        </p:txBody>
      </p:sp>
      <p:pic>
        <p:nvPicPr>
          <p:cNvPr id="15" name="Picture 14" descr="A close up of a sign&#10;&#10;Description automatically generated">
            <a:extLst>
              <a:ext uri="{FF2B5EF4-FFF2-40B4-BE49-F238E27FC236}">
                <a16:creationId xmlns:a16="http://schemas.microsoft.com/office/drawing/2014/main" id="{56BC9DC3-5856-1F48-F0BE-E6FB58953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740785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78E5-4EE9-9207-6FC7-3D28CF2383A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81603C7-76CD-A76B-F955-68F3329D8967}"/>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Day 1 recap</a:t>
            </a:r>
          </a:p>
        </p:txBody>
      </p:sp>
      <p:sp>
        <p:nvSpPr>
          <p:cNvPr id="3" name="TextBox 2">
            <a:extLst>
              <a:ext uri="{FF2B5EF4-FFF2-40B4-BE49-F238E27FC236}">
                <a16:creationId xmlns:a16="http://schemas.microsoft.com/office/drawing/2014/main" id="{5F84214C-EACA-355D-FAEB-44DBEAE3040B}"/>
              </a:ext>
            </a:extLst>
          </p:cNvPr>
          <p:cNvSpPr txBox="1"/>
          <p:nvPr/>
        </p:nvSpPr>
        <p:spPr>
          <a:xfrm>
            <a:off x="520861" y="2095500"/>
            <a:ext cx="14393120" cy="424731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Connected Excel to Power BI + Dataverse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Moved data Excel → Power BI → Excel</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Introduced semantic models for governed, shared data</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Showed why clean, cloud data = better AI</a:t>
            </a:r>
          </a:p>
        </p:txBody>
      </p:sp>
      <p:pic>
        <p:nvPicPr>
          <p:cNvPr id="15" name="Picture 14" descr="A close up of a sign&#10;&#10;Description automatically generated">
            <a:extLst>
              <a:ext uri="{FF2B5EF4-FFF2-40B4-BE49-F238E27FC236}">
                <a16:creationId xmlns:a16="http://schemas.microsoft.com/office/drawing/2014/main" id="{6959BD9D-5738-BA78-737D-3115164D42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69688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ACC5-4B11-2B34-2998-BB1C4FC9CC6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DA2185A-0457-8E44-DEEB-D9AF5A6DD844}"/>
              </a:ext>
            </a:extLst>
          </p:cNvPr>
          <p:cNvSpPr txBox="1"/>
          <p:nvPr/>
        </p:nvSpPr>
        <p:spPr>
          <a:xfrm>
            <a:off x="520861" y="170082"/>
            <a:ext cx="6794339" cy="3785652"/>
          </a:xfrm>
          <a:prstGeom prst="rect">
            <a:avLst/>
          </a:prstGeom>
          <a:noFill/>
        </p:spPr>
        <p:txBody>
          <a:bodyPr wrap="square" rtlCol="0">
            <a:spAutoFit/>
          </a:bodyPr>
          <a:lstStyle/>
          <a:p>
            <a:r>
              <a:rPr lang="en-US" sz="8000" dirty="0">
                <a:latin typeface="Aliens &amp; cows" panose="00000500000000000000" pitchFamily="2" charset="0"/>
              </a:rPr>
              <a:t>Welcome to the modern Excel AI stack</a:t>
            </a:r>
          </a:p>
        </p:txBody>
      </p:sp>
      <p:pic>
        <p:nvPicPr>
          <p:cNvPr id="15" name="Picture 14" descr="A close up of a sign&#10;&#10;Description automatically generated">
            <a:extLst>
              <a:ext uri="{FF2B5EF4-FFF2-40B4-BE49-F238E27FC236}">
                <a16:creationId xmlns:a16="http://schemas.microsoft.com/office/drawing/2014/main" id="{B40CB128-54BB-AAD9-5F61-2143EA93C3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59AB6FFB-7FD0-7057-BC27-8C4B01CE34D2}"/>
              </a:ext>
            </a:extLst>
          </p:cNvPr>
          <p:cNvSpPr txBox="1"/>
          <p:nvPr/>
        </p:nvSpPr>
        <p:spPr>
          <a:xfrm>
            <a:off x="228600" y="8267700"/>
            <a:ext cx="6400800" cy="1569660"/>
          </a:xfrm>
          <a:prstGeom prst="rect">
            <a:avLst/>
          </a:prstGeom>
          <a:noFill/>
        </p:spPr>
        <p:txBody>
          <a:bodyPr wrap="square">
            <a:spAutoFit/>
          </a:bodyPr>
          <a:lstStyle/>
          <a:p>
            <a:r>
              <a:rPr lang="en-US" sz="3200" dirty="0">
                <a:hlinkClick r:id="rId3"/>
              </a:rPr>
              <a:t>https://stringfestanalytics.com/how-to-understand-the-modern-excel-ai-stack/</a:t>
            </a:r>
            <a:r>
              <a:rPr lang="en-US" sz="3200" dirty="0"/>
              <a:t> </a:t>
            </a:r>
          </a:p>
        </p:txBody>
      </p:sp>
      <p:pic>
        <p:nvPicPr>
          <p:cNvPr id="5" name="Picture 4">
            <a:extLst>
              <a:ext uri="{FF2B5EF4-FFF2-40B4-BE49-F238E27FC236}">
                <a16:creationId xmlns:a16="http://schemas.microsoft.com/office/drawing/2014/main" id="{B9D87183-BF8B-3C89-D59E-109566F38D46}"/>
              </a:ext>
            </a:extLst>
          </p:cNvPr>
          <p:cNvPicPr>
            <a:picLocks noChangeAspect="1"/>
          </p:cNvPicPr>
          <p:nvPr/>
        </p:nvPicPr>
        <p:blipFill>
          <a:blip r:embed="rId4"/>
          <a:stretch>
            <a:fillRect/>
          </a:stretch>
        </p:blipFill>
        <p:spPr>
          <a:xfrm>
            <a:off x="8001000" y="0"/>
            <a:ext cx="10287000" cy="10287000"/>
          </a:xfrm>
          <a:prstGeom prst="rect">
            <a:avLst/>
          </a:prstGeom>
        </p:spPr>
      </p:pic>
      <p:sp>
        <p:nvSpPr>
          <p:cNvPr id="2" name="Rectangle 1">
            <a:extLst>
              <a:ext uri="{FF2B5EF4-FFF2-40B4-BE49-F238E27FC236}">
                <a16:creationId xmlns:a16="http://schemas.microsoft.com/office/drawing/2014/main" id="{2A65A1F1-433D-842C-ED33-95F0AF974DBB}"/>
              </a:ext>
            </a:extLst>
          </p:cNvPr>
          <p:cNvSpPr/>
          <p:nvPr/>
        </p:nvSpPr>
        <p:spPr>
          <a:xfrm>
            <a:off x="8763000" y="6286500"/>
            <a:ext cx="8991600" cy="1524000"/>
          </a:xfrm>
          <a:prstGeom prst="rect">
            <a:avLst/>
          </a:prstGeom>
          <a:noFill/>
          <a:ln w="76200">
            <a:solidFill>
              <a:srgbClr val="CF33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422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41DA4-5EE2-CADD-5140-C1E608C9B1D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3438CD9-EA3D-370D-5CAD-C8D895DAD023}"/>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Agenda for Day 2</a:t>
            </a:r>
          </a:p>
        </p:txBody>
      </p:sp>
      <p:sp>
        <p:nvSpPr>
          <p:cNvPr id="3" name="TextBox 2">
            <a:extLst>
              <a:ext uri="{FF2B5EF4-FFF2-40B4-BE49-F238E27FC236}">
                <a16:creationId xmlns:a16="http://schemas.microsoft.com/office/drawing/2014/main" id="{572B596E-4E1C-576D-080B-E612D128621D}"/>
              </a:ext>
            </a:extLst>
          </p:cNvPr>
          <p:cNvSpPr txBox="1"/>
          <p:nvPr/>
        </p:nvSpPr>
        <p:spPr>
          <a:xfrm>
            <a:off x="520861" y="2095500"/>
            <a:ext cx="14393120" cy="6247864"/>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000" dirty="0">
                <a:solidFill>
                  <a:srgbClr val="707070"/>
                </a:solidFill>
                <a:latin typeface="Pragmatica" panose="020B0403040502020204" pitchFamily="34" charset="0"/>
              </a:rPr>
              <a:t>Review common real-world data cleaning </a:t>
            </a:r>
          </a:p>
          <a:p>
            <a:pPr marL="685800" indent="-685800">
              <a:buClr>
                <a:srgbClr val="CF3338"/>
              </a:buClr>
              <a:buFont typeface="Arial" panose="020B0604020202020204" pitchFamily="34" charset="0"/>
              <a:buChar char="•"/>
            </a:pPr>
            <a:r>
              <a:rPr lang="en-US" sz="5000" dirty="0">
                <a:solidFill>
                  <a:srgbClr val="707070"/>
                </a:solidFill>
                <a:latin typeface="Pragmatica" panose="020B0403040502020204" pitchFamily="34" charset="0"/>
              </a:rPr>
              <a:t>Use Analyze Data to test “before vs after” data quality</a:t>
            </a:r>
          </a:p>
          <a:p>
            <a:pPr marL="685800" indent="-685800">
              <a:buClr>
                <a:srgbClr val="CF3338"/>
              </a:buClr>
              <a:buFont typeface="Arial" panose="020B0604020202020204" pitchFamily="34" charset="0"/>
              <a:buChar char="•"/>
            </a:pPr>
            <a:r>
              <a:rPr lang="en-US" sz="5000" dirty="0">
                <a:solidFill>
                  <a:srgbClr val="707070"/>
                </a:solidFill>
                <a:latin typeface="Pragmatica" panose="020B0403040502020204" pitchFamily="34" charset="0"/>
              </a:rPr>
              <a:t>Apply core transformations in Power Query</a:t>
            </a:r>
          </a:p>
          <a:p>
            <a:pPr marL="685800" indent="-685800">
              <a:buClr>
                <a:srgbClr val="CF3338"/>
              </a:buClr>
              <a:buFont typeface="Arial" panose="020B0604020202020204" pitchFamily="34" charset="0"/>
              <a:buChar char="•"/>
            </a:pPr>
            <a:r>
              <a:rPr lang="en-US" sz="5000" dirty="0">
                <a:solidFill>
                  <a:srgbClr val="707070"/>
                </a:solidFill>
                <a:latin typeface="Pragmatica" panose="020B0403040502020204" pitchFamily="34" charset="0"/>
              </a:rPr>
              <a:t>Push your cleaning logic to Dataflows in the cloud</a:t>
            </a:r>
          </a:p>
          <a:p>
            <a:pPr marL="685800" indent="-685800">
              <a:buClr>
                <a:srgbClr val="CF3338"/>
              </a:buClr>
              <a:buFont typeface="Arial" panose="020B0604020202020204" pitchFamily="34" charset="0"/>
              <a:buChar char="•"/>
            </a:pPr>
            <a:r>
              <a:rPr lang="en-US" sz="5000" dirty="0">
                <a:solidFill>
                  <a:srgbClr val="707070"/>
                </a:solidFill>
                <a:latin typeface="Pragmatica" panose="020B0403040502020204" pitchFamily="34" charset="0"/>
              </a:rPr>
              <a:t>Make clean, governed data available in Dataverse</a:t>
            </a:r>
          </a:p>
          <a:p>
            <a:pPr marL="685800" indent="-685800">
              <a:buClr>
                <a:srgbClr val="CF3338"/>
              </a:buClr>
              <a:buFont typeface="Arial" panose="020B0604020202020204" pitchFamily="34" charset="0"/>
              <a:buChar char="•"/>
            </a:pPr>
            <a:r>
              <a:rPr lang="en-US" sz="5000" dirty="0">
                <a:solidFill>
                  <a:srgbClr val="707070"/>
                </a:solidFill>
                <a:latin typeface="Pragmatica" panose="020B0403040502020204" pitchFamily="34" charset="0"/>
              </a:rPr>
              <a:t>Prep the foundation for Copilot Studio and the Power Platform</a:t>
            </a:r>
          </a:p>
        </p:txBody>
      </p:sp>
      <p:pic>
        <p:nvPicPr>
          <p:cNvPr id="15" name="Picture 14" descr="A close up of a sign&#10;&#10;Description automatically generated">
            <a:extLst>
              <a:ext uri="{FF2B5EF4-FFF2-40B4-BE49-F238E27FC236}">
                <a16:creationId xmlns:a16="http://schemas.microsoft.com/office/drawing/2014/main" id="{25CAA5E4-3305-D3F9-60C2-4F13A4053D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521430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0" y="329879"/>
            <a:ext cx="9416969" cy="8986434"/>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Clean in Excel, scale to the cloud</a:t>
            </a:r>
          </a:p>
          <a:p>
            <a:endParaRPr lang="en-US" sz="4200" dirty="0">
              <a:solidFill>
                <a:srgbClr val="CF3338"/>
              </a:solidFill>
              <a:latin typeface="Pragmatica" panose="020B0403040502020204" pitchFamily="34" charset="0"/>
            </a:endParaRP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Use Power Query in Excel to clean and shape an insurance claims dataset</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Publish the same transformation logic to a Dataflow</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Apply that logic to enterprise Dataverse tables</a:t>
            </a:r>
          </a:p>
          <a:p>
            <a:pPr marL="714375" indent="-571500">
              <a:lnSpc>
                <a:spcPct val="115000"/>
              </a:lnSpc>
              <a:spcBef>
                <a:spcPts val="1125"/>
              </a:spcBef>
              <a:buClr>
                <a:srgbClr val="C00000"/>
              </a:buClr>
              <a:buSzPts val="2100"/>
              <a:buFont typeface="Arial" panose="020B0604020202020204" pitchFamily="34" charset="0"/>
              <a:buChar char="•"/>
            </a:pPr>
            <a:r>
              <a:rPr lang="en-US" sz="3600" dirty="0">
                <a:solidFill>
                  <a:srgbClr val="C00000"/>
                </a:solidFill>
                <a:latin typeface="Pragmatica" panose="020B0403040502020204"/>
                <a:sym typeface="Consolas"/>
              </a:rPr>
              <a:t>Show how one transformation can serve every workflow across the Power Platform</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Workbook: </a:t>
            </a:r>
            <a:r>
              <a:rPr lang="en-US" sz="3600" dirty="0">
                <a:solidFill>
                  <a:srgbClr val="C00000"/>
                </a:solidFill>
                <a:latin typeface="Consolas" panose="020B0609020204030204" pitchFamily="49" charset="0"/>
                <a:sym typeface="Consolas"/>
              </a:rPr>
              <a:t>wholesale-customers.xlsx</a:t>
            </a:r>
          </a:p>
        </p:txBody>
      </p:sp>
    </p:spTree>
    <p:extLst>
      <p:ext uri="{BB962C8B-B14F-4D97-AF65-F5344CB8AC3E}">
        <p14:creationId xmlns:p14="http://schemas.microsoft.com/office/powerpoint/2010/main" val="3871531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E3AC-4FA3-83DA-F79F-26551AD8550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FF83F61-9347-B3FC-96FC-70DF3E10AC66}"/>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So what for AI?</a:t>
            </a:r>
          </a:p>
        </p:txBody>
      </p:sp>
      <p:sp>
        <p:nvSpPr>
          <p:cNvPr id="3" name="TextBox 2">
            <a:extLst>
              <a:ext uri="{FF2B5EF4-FFF2-40B4-BE49-F238E27FC236}">
                <a16:creationId xmlns:a16="http://schemas.microsoft.com/office/drawing/2014/main" id="{7A23AEB3-4E11-C3D4-E894-27B00448C33C}"/>
              </a:ext>
            </a:extLst>
          </p:cNvPr>
          <p:cNvSpPr txBox="1"/>
          <p:nvPr/>
        </p:nvSpPr>
        <p:spPr>
          <a:xfrm>
            <a:off x="520861" y="2095500"/>
            <a:ext cx="14393120" cy="507831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AI needs consistent, well-defined tables, not one-off cleanup</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Dataflows give Copilot Studio reliable inputs for reasoning and actions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You cannot build strong copilots without strong data foundations</a:t>
            </a:r>
          </a:p>
        </p:txBody>
      </p:sp>
      <p:pic>
        <p:nvPicPr>
          <p:cNvPr id="15" name="Picture 14" descr="A close up of a sign&#10;&#10;Description automatically generated">
            <a:extLst>
              <a:ext uri="{FF2B5EF4-FFF2-40B4-BE49-F238E27FC236}">
                <a16:creationId xmlns:a16="http://schemas.microsoft.com/office/drawing/2014/main" id="{96DC29E9-117A-CF3F-ECBD-08964AD5B8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433379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78ECD-3650-0D5D-E084-2ADF9077632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BF29A83-0331-0E10-824A-4833E4760B19}"/>
              </a:ext>
            </a:extLst>
          </p:cNvPr>
          <p:cNvSpPr txBox="1"/>
          <p:nvPr/>
        </p:nvSpPr>
        <p:spPr>
          <a:xfrm>
            <a:off x="520861" y="170082"/>
            <a:ext cx="16700339" cy="1107996"/>
          </a:xfrm>
          <a:prstGeom prst="rect">
            <a:avLst/>
          </a:prstGeom>
          <a:noFill/>
        </p:spPr>
        <p:txBody>
          <a:bodyPr wrap="square" rtlCol="0">
            <a:spAutoFit/>
          </a:bodyPr>
          <a:lstStyle/>
          <a:p>
            <a:r>
              <a:rPr lang="en-US" sz="6600" dirty="0">
                <a:latin typeface="Aliens &amp; cows" panose="00000500000000000000" pitchFamily="2" charset="0"/>
              </a:rPr>
              <a:t>Day 3 preview: The intelligence layer with Excel</a:t>
            </a:r>
          </a:p>
        </p:txBody>
      </p:sp>
      <p:sp>
        <p:nvSpPr>
          <p:cNvPr id="3" name="TextBox 2">
            <a:extLst>
              <a:ext uri="{FF2B5EF4-FFF2-40B4-BE49-F238E27FC236}">
                <a16:creationId xmlns:a16="http://schemas.microsoft.com/office/drawing/2014/main" id="{1F8BFEA8-EC1E-D186-8530-6533D3345701}"/>
              </a:ext>
            </a:extLst>
          </p:cNvPr>
          <p:cNvSpPr txBox="1"/>
          <p:nvPr/>
        </p:nvSpPr>
        <p:spPr>
          <a:xfrm>
            <a:off x="520861" y="2095500"/>
            <a:ext cx="14393120" cy="5909310"/>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Use Copilot inside Excel to create formulas, charts, and insights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Run Python for analytics, modeling, and forecasting</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See how Agent Mode handles multi step analytical tasks</a:t>
            </a:r>
          </a:p>
          <a:p>
            <a:pPr marL="685800" indent="-685800">
              <a:buClr>
                <a:srgbClr val="CF3338"/>
              </a:buClr>
              <a:buFont typeface="Arial" panose="020B0604020202020204" pitchFamily="34" charset="0"/>
              <a:buChar char="•"/>
            </a:pPr>
            <a:endParaRPr lang="en-US" sz="5400" dirty="0">
              <a:solidFill>
                <a:srgbClr val="707070"/>
              </a:solidFill>
              <a:latin typeface="Pragmatica" panose="020B0403040502020204" pitchFamily="34" charset="0"/>
            </a:endParaRPr>
          </a:p>
        </p:txBody>
      </p:sp>
      <p:pic>
        <p:nvPicPr>
          <p:cNvPr id="15" name="Picture 14" descr="A close up of a sign&#10;&#10;Description automatically generated">
            <a:extLst>
              <a:ext uri="{FF2B5EF4-FFF2-40B4-BE49-F238E27FC236}">
                <a16:creationId xmlns:a16="http://schemas.microsoft.com/office/drawing/2014/main" id="{49376407-AE9F-CCBA-4232-9DA21ADE63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946292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CF9C-FC7D-DEAE-2D87-10577021DCA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6CBD8B9-A494-A7F7-0F64-845B951EC9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a:extLst>
              <a:ext uri="{FF2B5EF4-FFF2-40B4-BE49-F238E27FC236}">
                <a16:creationId xmlns:a16="http://schemas.microsoft.com/office/drawing/2014/main" id="{AC63943A-3FAF-22B6-228E-4092BA65A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a:extLst>
              <a:ext uri="{FF2B5EF4-FFF2-40B4-BE49-F238E27FC236}">
                <a16:creationId xmlns:a16="http://schemas.microsoft.com/office/drawing/2014/main" id="{5DFCEBB5-9C7D-6182-700C-0428AD2DDE67}"/>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THANK YOU</a:t>
            </a:r>
          </a:p>
        </p:txBody>
      </p:sp>
      <p:sp>
        <p:nvSpPr>
          <p:cNvPr id="2" name="AutoShape 2" descr="Home | Full Stack Modeller">
            <a:extLst>
              <a:ext uri="{FF2B5EF4-FFF2-40B4-BE49-F238E27FC236}">
                <a16:creationId xmlns:a16="http://schemas.microsoft.com/office/drawing/2014/main" id="{16E5F1F1-B220-BEC5-B5EA-499D4942916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934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3927</TotalTime>
  <Words>1314</Words>
  <Application>Microsoft Office PowerPoint</Application>
  <PresentationFormat>Custom</PresentationFormat>
  <Paragraphs>72</Paragraphs>
  <Slides>10</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Pragmatica</vt:lpstr>
      <vt:lpstr>Consolas</vt:lpstr>
      <vt:lpstr>Arial</vt:lpstr>
      <vt:lpstr>Aliens &amp; cows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238</cp:revision>
  <dcterms:created xsi:type="dcterms:W3CDTF">2006-08-16T00:00:00Z</dcterms:created>
  <dcterms:modified xsi:type="dcterms:W3CDTF">2025-12-01T18:37:28Z</dcterms:modified>
  <dc:identifier>DADurESpNu8</dc:identifier>
</cp:coreProperties>
</file>