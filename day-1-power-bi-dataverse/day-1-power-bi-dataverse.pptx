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2"/>
  </p:notesMasterIdLst>
  <p:sldIdLst>
    <p:sldId id="256" r:id="rId2"/>
    <p:sldId id="425" r:id="rId3"/>
    <p:sldId id="426" r:id="rId4"/>
    <p:sldId id="455" r:id="rId5"/>
    <p:sldId id="471" r:id="rId6"/>
    <p:sldId id="407" r:id="rId7"/>
    <p:sldId id="472" r:id="rId8"/>
    <p:sldId id="473" r:id="rId9"/>
    <p:sldId id="415" r:id="rId10"/>
    <p:sldId id="470" r:id="rId11"/>
  </p:sldIdLst>
  <p:sldSz cx="18288000" cy="10287000"/>
  <p:notesSz cx="6858000" cy="9144000"/>
  <p:embeddedFontLst>
    <p:embeddedFont>
      <p:font typeface="Consolas" panose="020B0609020204030204" pitchFamily="49" charset="0"/>
      <p:regular r:id="rId13"/>
      <p:bold r:id="rId14"/>
      <p:italic r:id="rId15"/>
      <p:boldItalic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7684158-E8C8-9BE0-21EB-718D906F94A5}" name="George Mount" initials="GM" userId="S::george@stringfestanalytics.com::22d0b802-afc6-4b8f-ba57-7a855d96927f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eorge Mount" initials="GM" lastIdx="9" clrIdx="0">
    <p:extLst>
      <p:ext uri="{19B8F6BF-5375-455C-9EA6-DF929625EA0E}">
        <p15:presenceInfo xmlns:p15="http://schemas.microsoft.com/office/powerpoint/2012/main" userId="57d2ab2a84d54c8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3338"/>
    <a:srgbClr val="3D393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CFE45DF-55D5-405D-A565-885B46CD6B1C}" v="18" dt="2025-10-20T17:24:06.950"/>
    <p1510:client id="{FF0EED0B-C5B4-4142-B053-6337C3D566F0}" v="5" dt="2025-10-20T16:58:00.7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992" autoAdjust="0"/>
    <p:restoredTop sz="78463" autoAdjust="0"/>
  </p:normalViewPr>
  <p:slideViewPr>
    <p:cSldViewPr>
      <p:cViewPr varScale="1">
        <p:scale>
          <a:sx n="43" d="100"/>
          <a:sy n="43" d="100"/>
        </p:scale>
        <p:origin x="259" y="44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40" d="100"/>
        <a:sy n="14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A98A70-FA8C-4354-959C-C70678AC9BCF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B500C5-13F7-48FC-8160-C29AECF6C6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3505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549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stringfestanalytics.com/how-to-understand-the-modern-excel-ai-stack/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542796" y="4850092"/>
            <a:ext cx="4745204" cy="5435819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14400" y="-3440159"/>
            <a:ext cx="15257208" cy="111898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6137" y="2531318"/>
            <a:ext cx="1197979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AI for Excel in a Week</a:t>
            </a:r>
          </a:p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Day 1: Power BI and Dataverse – The Foundation Layer</a:t>
            </a:r>
          </a:p>
        </p:txBody>
      </p:sp>
      <p:sp>
        <p:nvSpPr>
          <p:cNvPr id="2" name="AutoShape 2" descr="Home | Full Stack Modeller">
            <a:extLst>
              <a:ext uri="{FF2B5EF4-FFF2-40B4-BE49-F238E27FC236}">
                <a16:creationId xmlns:a16="http://schemas.microsoft.com/office/drawing/2014/main" id="{6CCAA77C-4E76-640C-066C-F3E39EE1AC9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991600" y="49911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591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sp>
        <p:nvSpPr>
          <p:cNvPr id="5" name="TextBox 4"/>
          <p:cNvSpPr txBox="1"/>
          <p:nvPr/>
        </p:nvSpPr>
        <p:spPr>
          <a:xfrm>
            <a:off x="781292" y="590309"/>
            <a:ext cx="15486926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900" b="1" dirty="0">
                <a:solidFill>
                  <a:schemeClr val="bg1"/>
                </a:solidFill>
                <a:latin typeface="Normafixed Tryout" panose="00000409000000000000" pitchFamily="49" charset="0"/>
              </a:rPr>
              <a:t>About me</a:t>
            </a:r>
          </a:p>
        </p:txBody>
      </p:sp>
      <p:pic>
        <p:nvPicPr>
          <p:cNvPr id="3" name="Picture 4" descr="Advancing into Analytics Cover Image">
            <a:extLst>
              <a:ext uri="{FF2B5EF4-FFF2-40B4-BE49-F238E27FC236}">
                <a16:creationId xmlns:a16="http://schemas.microsoft.com/office/drawing/2014/main" id="{588F684B-18EF-D76C-5F7B-15E4BAD606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77075" y="195640"/>
            <a:ext cx="3130385" cy="4088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 descr="Free photos of Cleveland">
            <a:extLst>
              <a:ext uri="{FF2B5EF4-FFF2-40B4-BE49-F238E27FC236}">
                <a16:creationId xmlns:a16="http://schemas.microsoft.com/office/drawing/2014/main" id="{CBA53EEE-E3E1-D99E-A4DC-1C4DD2E6CE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5692" y="2968810"/>
            <a:ext cx="5535359" cy="3684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97E0F267-87DF-961E-1FAA-47FD4F27A5C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3691" y="6002696"/>
            <a:ext cx="7448309" cy="5462681"/>
          </a:xfrm>
          <a:prstGeom prst="rect">
            <a:avLst/>
          </a:prstGeom>
        </p:spPr>
      </p:pic>
      <p:pic>
        <p:nvPicPr>
          <p:cNvPr id="1026" name="Picture 2" descr="Modern data analytics in Excel book cover">
            <a:extLst>
              <a:ext uri="{FF2B5EF4-FFF2-40B4-BE49-F238E27FC236}">
                <a16:creationId xmlns:a16="http://schemas.microsoft.com/office/drawing/2014/main" id="{874ADA5E-A7A7-1D02-C728-513187DE1E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1136" y="2210054"/>
            <a:ext cx="3437261" cy="4507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Microsoft Most Valuable Professional - Wikipedia">
            <a:extLst>
              <a:ext uri="{FF2B5EF4-FFF2-40B4-BE49-F238E27FC236}">
                <a16:creationId xmlns:a16="http://schemas.microsoft.com/office/drawing/2014/main" id="{36C71929-5967-B93D-05FE-E330D621C5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642" y="7832951"/>
            <a:ext cx="5057775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729011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520861" y="170082"/>
            <a:ext cx="1197979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dirty="0">
                <a:latin typeface="Aliens &amp; cows" panose="00000500000000000000" pitchFamily="2" charset="0"/>
              </a:rPr>
              <a:t>Objectives for this course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628900"/>
            <a:ext cx="16230600" cy="67403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707070"/>
                </a:solidFill>
                <a:latin typeface="Pragmatica" panose="020B0403040502020204" pitchFamily="34" charset="0"/>
              </a:rPr>
              <a:t>Connect Excel to Power BI and Dataverse for live, governed data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707070"/>
                </a:solidFill>
                <a:latin typeface="Pragmatica" panose="020B0403040502020204" pitchFamily="34" charset="0"/>
              </a:rPr>
              <a:t>Build repeatable cleaning workflows with Power Query and Dataflows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707070"/>
                </a:solidFill>
                <a:latin typeface="Pragmatica" panose="020B0403040502020204" pitchFamily="34" charset="0"/>
              </a:rPr>
              <a:t>Use Copilot, Python, and Agent Mode for analysis and forecasting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707070"/>
                </a:solidFill>
                <a:latin typeface="Pragmatica" panose="020B0403040502020204" pitchFamily="34" charset="0"/>
              </a:rPr>
              <a:t>Automate Excel tasks with Office Scripts and Power Automate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707070"/>
                </a:solidFill>
                <a:latin typeface="Pragmatica" panose="020B0403040502020204" pitchFamily="34" charset="0"/>
              </a:rPr>
              <a:t>Build and connect custom copilots in Copilot Studio for real workflows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29761B90-A7DE-4A60-A915-F085BD87CA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0763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6697A-2DDC-AD06-0D5F-524946CCF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0E25D70B-1F78-7AF8-4771-7B64B436CB0F}"/>
              </a:ext>
            </a:extLst>
          </p:cNvPr>
          <p:cNvSpPr txBox="1"/>
          <p:nvPr/>
        </p:nvSpPr>
        <p:spPr>
          <a:xfrm>
            <a:off x="520861" y="170082"/>
            <a:ext cx="1464293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dirty="0">
                <a:latin typeface="Aliens &amp; cows" panose="00000500000000000000" pitchFamily="2" charset="0"/>
              </a:rPr>
              <a:t>Class logistics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D5976A-E96C-DF78-2D1D-42CD64D3E69F}"/>
              </a:ext>
            </a:extLst>
          </p:cNvPr>
          <p:cNvSpPr txBox="1"/>
          <p:nvPr/>
        </p:nvSpPr>
        <p:spPr>
          <a:xfrm>
            <a:off x="520861" y="3191948"/>
            <a:ext cx="1439312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All recordings, files used and communication will be on Teams channel</a:t>
            </a:r>
          </a:p>
          <a:p>
            <a:pPr marL="1143000" lvl="1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Be sure to use your email used to sign up for the course!</a:t>
            </a:r>
          </a:p>
          <a:p>
            <a:pPr marL="1143000" lvl="1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Email me with any questions: </a:t>
            </a:r>
            <a:r>
              <a:rPr lang="en-US" sz="5400" b="1" dirty="0">
                <a:solidFill>
                  <a:srgbClr val="707070"/>
                </a:solidFill>
                <a:latin typeface="Pragmatica" panose="020B0403040502020204" pitchFamily="34" charset="0"/>
              </a:rPr>
              <a:t>george@stringfestanalytics.com 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56BC9DC3-5856-1F48-F0BE-E6FB58953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7850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E6ACC5-4B11-2B34-2998-BB1C4FC9C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EDA2185A-0457-8E44-DEEB-D9AF5A6DD844}"/>
              </a:ext>
            </a:extLst>
          </p:cNvPr>
          <p:cNvSpPr txBox="1"/>
          <p:nvPr/>
        </p:nvSpPr>
        <p:spPr>
          <a:xfrm>
            <a:off x="520861" y="170082"/>
            <a:ext cx="6794339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dirty="0">
                <a:latin typeface="Aliens &amp; cows" panose="00000500000000000000" pitchFamily="2" charset="0"/>
              </a:rPr>
              <a:t>Welcome to the modern Excel AI stack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B40CB128-54BB-AAD9-5F61-2143EA93C3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9AB6FFB-7FD0-7057-BC27-8C4B01CE34D2}"/>
              </a:ext>
            </a:extLst>
          </p:cNvPr>
          <p:cNvSpPr txBox="1"/>
          <p:nvPr/>
        </p:nvSpPr>
        <p:spPr>
          <a:xfrm>
            <a:off x="228600" y="8267700"/>
            <a:ext cx="64008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hlinkClick r:id="rId3"/>
              </a:rPr>
              <a:t>https://stringfestanalytics.com/how-to-understand-the-modern-excel-ai-stack/</a:t>
            </a:r>
            <a:r>
              <a:rPr lang="en-US" sz="3200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D87183-BF8B-3C89-D59E-109566F38D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0"/>
            <a:ext cx="1028700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14227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0431" y="329879"/>
            <a:ext cx="8906720" cy="61518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Demo: to Excel and back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Excel data model to Power BI semantic model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Power BI semantic model to Dataverse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Dataverse to Excel 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What’s the takeaway for AI?</a:t>
            </a: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Workbook: </a:t>
            </a:r>
            <a:r>
              <a:rPr lang="en-US" sz="3600" dirty="0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superstore.xlsx</a:t>
            </a:r>
          </a:p>
        </p:txBody>
      </p:sp>
    </p:spTree>
    <p:extLst>
      <p:ext uri="{BB962C8B-B14F-4D97-AF65-F5344CB8AC3E}">
        <p14:creationId xmlns:p14="http://schemas.microsoft.com/office/powerpoint/2010/main" val="38715317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7E3AC-4FA3-83DA-F79F-26551AD85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FF83F61-9347-B3FC-96FC-70DF3E10AC66}"/>
              </a:ext>
            </a:extLst>
          </p:cNvPr>
          <p:cNvSpPr txBox="1"/>
          <p:nvPr/>
        </p:nvSpPr>
        <p:spPr>
          <a:xfrm>
            <a:off x="520861" y="170082"/>
            <a:ext cx="1464293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dirty="0">
                <a:latin typeface="Aliens &amp; cows" panose="00000500000000000000" pitchFamily="2" charset="0"/>
              </a:rPr>
              <a:t>So what for AI?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23AEB3-4E11-C3D4-E894-27B00448C33C}"/>
              </a:ext>
            </a:extLst>
          </p:cNvPr>
          <p:cNvSpPr txBox="1"/>
          <p:nvPr/>
        </p:nvSpPr>
        <p:spPr>
          <a:xfrm>
            <a:off x="520861" y="2095500"/>
            <a:ext cx="14393120" cy="75713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AI depends on clean, governed, trusted data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Cloud connected Excel gives Copilot real context and structure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Semantic models teach AI the meaning of your data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Dataverse provides consistent tables and relationships AI can use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Better data foundations mean better prompts, better answers, fewer errors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96DC29E9-117A-CF3F-ECBD-08964AD5B8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379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78ECD-3650-0D5D-E084-2ADF90776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2BF29A83-0331-0E10-824A-4833E4760B19}"/>
              </a:ext>
            </a:extLst>
          </p:cNvPr>
          <p:cNvSpPr txBox="1"/>
          <p:nvPr/>
        </p:nvSpPr>
        <p:spPr>
          <a:xfrm>
            <a:off x="520861" y="170082"/>
            <a:ext cx="1464293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 dirty="0">
                <a:latin typeface="Aliens &amp; cows" panose="00000500000000000000" pitchFamily="2" charset="0"/>
              </a:rPr>
              <a:t>Day 2: Data cleaning the modern way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8BFEA8-EC1E-D186-8530-6533D3345701}"/>
              </a:ext>
            </a:extLst>
          </p:cNvPr>
          <p:cNvSpPr txBox="1"/>
          <p:nvPr/>
        </p:nvSpPr>
        <p:spPr>
          <a:xfrm>
            <a:off x="520861" y="2095500"/>
            <a:ext cx="14393120" cy="67403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Build repeatable cleaning and shaping steps with Power Query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Publish transformations to the cloud as Dataflows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Feed clean, certified data into Excel and Power BI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Set the stage for reliable AI, automation, and reporting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49376407-AE9F-CCBA-4232-9DA21ADE63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62922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728" t="56371"/>
          <a:stretch/>
        </p:blipFill>
        <p:spPr>
          <a:xfrm>
            <a:off x="12204691" y="3316148"/>
            <a:ext cx="6083309" cy="6970854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07744" y="-3724155"/>
            <a:ext cx="15257208" cy="111898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6137" y="2531318"/>
            <a:ext cx="119797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Questions?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A06221-5316-4BCF-9FDA-BDB95FF4A7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204691" y="3317239"/>
            <a:ext cx="6083309" cy="6968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8607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1CF9C-FC7D-DEAE-2D87-10577021D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6CBD8B9-A494-A7F7-0F64-845B951EC9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542796" y="4850092"/>
            <a:ext cx="4745204" cy="543581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C63943A-3FAF-22B6-228E-4092BA65AC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14400" y="-3440159"/>
            <a:ext cx="15257208" cy="1118982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DFCEBB5-9C7D-6182-700C-0428AD2DDE67}"/>
              </a:ext>
            </a:extLst>
          </p:cNvPr>
          <p:cNvSpPr txBox="1"/>
          <p:nvPr/>
        </p:nvSpPr>
        <p:spPr>
          <a:xfrm>
            <a:off x="486137" y="2531318"/>
            <a:ext cx="119797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THANK YOU</a:t>
            </a:r>
          </a:p>
        </p:txBody>
      </p:sp>
      <p:sp>
        <p:nvSpPr>
          <p:cNvPr id="2" name="AutoShape 2" descr="Home | Full Stack Modeller">
            <a:extLst>
              <a:ext uri="{FF2B5EF4-FFF2-40B4-BE49-F238E27FC236}">
                <a16:creationId xmlns:a16="http://schemas.microsoft.com/office/drawing/2014/main" id="{16E5F1F1-B220-BEC5-B5EA-499D4942916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991600" y="49911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344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3872</TotalTime>
  <Words>275</Words>
  <Application>Microsoft Office PowerPoint</Application>
  <PresentationFormat>Custom</PresentationFormat>
  <Paragraphs>39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Pragmatica</vt:lpstr>
      <vt:lpstr>Arial</vt:lpstr>
      <vt:lpstr>Aliens &amp; cows</vt:lpstr>
      <vt:lpstr>Calibri</vt:lpstr>
      <vt:lpstr>Normafixed Tryout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excel-statistics-for-business-analytics</dc:title>
  <dc:creator>User</dc:creator>
  <cp:lastModifiedBy>George Mount</cp:lastModifiedBy>
  <cp:revision>233</cp:revision>
  <dcterms:created xsi:type="dcterms:W3CDTF">2006-08-16T00:00:00Z</dcterms:created>
  <dcterms:modified xsi:type="dcterms:W3CDTF">2025-11-19T23:54:44Z</dcterms:modified>
  <dc:identifier>DADurESpNu8</dc:identifier>
</cp:coreProperties>
</file>