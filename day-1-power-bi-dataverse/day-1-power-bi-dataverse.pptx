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425" r:id="rId3"/>
    <p:sldId id="426" r:id="rId4"/>
    <p:sldId id="455" r:id="rId5"/>
    <p:sldId id="471" r:id="rId6"/>
    <p:sldId id="407" r:id="rId7"/>
    <p:sldId id="472" r:id="rId8"/>
    <p:sldId id="473" r:id="rId9"/>
    <p:sldId id="415" r:id="rId10"/>
    <p:sldId id="470" r:id="rId11"/>
  </p:sldIdLst>
  <p:sldSz cx="18288000" cy="10287000"/>
  <p:notesSz cx="6858000" cy="9144000"/>
  <p:embeddedFontLst>
    <p:embeddedFont>
      <p:font typeface="Consolas" panose="020B0609020204030204" pitchFamily="49"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78463" autoAdjust="0"/>
  </p:normalViewPr>
  <p:slideViewPr>
    <p:cSldViewPr>
      <p:cViewPr varScale="1">
        <p:scale>
          <a:sx n="33" d="100"/>
          <a:sy n="33" d="100"/>
        </p:scale>
        <p:origin x="779" y="251"/>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t>https://chatgpt.com/c/691fb29d-0794-8331-95af-5fa280ce17fb</a:t>
            </a:r>
            <a:endParaRPr lang="en-US" dirty="0"/>
          </a:p>
        </p:txBody>
      </p:sp>
      <p:sp>
        <p:nvSpPr>
          <p:cNvPr id="4" name="Slide Number Placeholder 3"/>
          <p:cNvSpPr>
            <a:spLocks noGrp="1"/>
          </p:cNvSpPr>
          <p:nvPr>
            <p:ph type="sldNum" sz="quarter" idx="5"/>
          </p:nvPr>
        </p:nvSpPr>
        <p:spPr/>
        <p:txBody>
          <a:bodyPr/>
          <a:lstStyle/>
          <a:p>
            <a:fld id="{1300335D-9F13-4B80-ADC5-B0EA3E10FF6B}" type="slidenum">
              <a:rPr lang="en-US" smtClean="0"/>
              <a:t>6</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AI depends on clean, governed, trusted data</a:t>
            </a:r>
            <a:br>
              <a:rPr lang="en-US" dirty="0"/>
            </a:br>
            <a:r>
              <a:rPr lang="en-US" dirty="0"/>
              <a:t>When people think “AI,” they think prompts — but the real magic actually comes from your data foundation. Copilot can only work with what you give it. If your data is messy, inconsistent, or missing key fields, your AI results will reflect that. Garbage in, garbage out… just faster.</a:t>
            </a:r>
          </a:p>
          <a:p>
            <a:r>
              <a:rPr lang="en-US" b="1" dirty="0"/>
              <a:t>Cloud-connected Excel gives Copilot real context and structure</a:t>
            </a:r>
            <a:br>
              <a:rPr lang="en-US" dirty="0"/>
            </a:br>
            <a:r>
              <a:rPr lang="en-US" dirty="0"/>
              <a:t>When your workbook is connected to the cloud — OneDrive, SharePoint, Fabric, Dataverse — Excel actually </a:t>
            </a:r>
            <a:r>
              <a:rPr lang="en-US" i="1" dirty="0"/>
              <a:t>knows</a:t>
            </a:r>
            <a:r>
              <a:rPr lang="en-US" dirty="0"/>
              <a:t> what your tables are, how they relate, and how often they change. That gives Copilot a stable structure to work with instead of trying to interpret a bunch of disconnected spreadsheets.</a:t>
            </a:r>
          </a:p>
          <a:p>
            <a:r>
              <a:rPr lang="en-US" b="1" dirty="0"/>
              <a:t>Semantic models teach AI the meaning of your data</a:t>
            </a:r>
            <a:br>
              <a:rPr lang="en-US" dirty="0"/>
            </a:br>
            <a:r>
              <a:rPr lang="en-US" dirty="0"/>
              <a:t>A semantic model is basically the “brain” of your data: it defines your tables, your relationships, your measures, and your business logic. When you connect to a Power BI semantic model from Excel, Copilot can reason about the meaning behind your fields — not just their labels. It understands what “Revenue,” “Customer,” or “Region” actually </a:t>
            </a:r>
            <a:r>
              <a:rPr lang="en-US" i="1" dirty="0"/>
              <a:t>mean</a:t>
            </a:r>
            <a:r>
              <a:rPr lang="en-US" dirty="0"/>
              <a:t> in your organization.</a:t>
            </a:r>
          </a:p>
          <a:p>
            <a:r>
              <a:rPr lang="en-US" b="1" dirty="0"/>
              <a:t>Dataverse provides consistent tables and relationships AI can use</a:t>
            </a:r>
            <a:br>
              <a:rPr lang="en-US" dirty="0"/>
            </a:br>
            <a:r>
              <a:rPr lang="en-US" dirty="0"/>
              <a:t>Dataverse is your governed, standardized data layer. Everything has proper types, relationships, and metadata. When Excel pulls from Dataverse, Copilot works with data that’s already clean and modeled, instead of 50 different versions of the same dataset floating around in personal spreadsheets.</a:t>
            </a:r>
          </a:p>
          <a:p>
            <a:r>
              <a:rPr lang="en-US" b="1" dirty="0"/>
              <a:t>Better data foundations mean better prompts, better answers, fewer errors</a:t>
            </a:r>
            <a:br>
              <a:rPr lang="en-US" dirty="0"/>
            </a:br>
            <a:r>
              <a:rPr lang="en-US" dirty="0"/>
              <a:t>At the end of the day, strong data foundations make you look like a genius with AI. Prompts land more accurately. Copilot produces cleaner results. And you spend far less time debugging formulas or rewriting analyses. This is why Modern Excel isn’t just about AI — it’s about preparing your data so AI can actually help you.</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3005231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Day 2 preview: Data cleaning the modern way</a:t>
            </a:r>
            <a:br>
              <a:rPr lang="en-US" dirty="0"/>
            </a:br>
            <a:r>
              <a:rPr lang="en-US" dirty="0"/>
              <a:t>Tomorrow we shift from “what AI needs” to “how we actually get there.” The modern data stack starts with cleaning and shaping your raw data so everything downstream — AI, automation, reporting — actually works.</a:t>
            </a:r>
          </a:p>
          <a:p>
            <a:r>
              <a:rPr lang="en-US" b="1" dirty="0"/>
              <a:t>Build repeatable cleaning and shaping steps with Power Query</a:t>
            </a:r>
            <a:br>
              <a:rPr lang="en-US" dirty="0"/>
            </a:br>
            <a:r>
              <a:rPr lang="en-US" dirty="0"/>
              <a:t>Power Query is where you stop fixing data manually. Every transformation you apply — splitting columns, fixing data types, removing errors — is recorded as a step. So instead of rebuilding cleanup every week, you just click </a:t>
            </a:r>
            <a:r>
              <a:rPr lang="en-US" i="1" dirty="0"/>
              <a:t>Refresh</a:t>
            </a:r>
            <a:r>
              <a:rPr lang="en-US" dirty="0"/>
              <a:t>. This is where analysts start saving hours per report.</a:t>
            </a:r>
          </a:p>
          <a:p>
            <a:r>
              <a:rPr lang="en-US" b="1" dirty="0"/>
              <a:t>Publish transformations to the cloud as Dataflows</a:t>
            </a:r>
            <a:br>
              <a:rPr lang="en-US" dirty="0"/>
            </a:br>
            <a:r>
              <a:rPr lang="en-US" dirty="0"/>
              <a:t>Once your Power Query steps are working locally, you can publish them as Dataflows in the cloud. That turns your one-off cleanup into a reusable, centralized process that your whole team can use. It’s the same logic, just elevated from “my file” to “our shared data pipeline.”</a:t>
            </a:r>
          </a:p>
          <a:p>
            <a:r>
              <a:rPr lang="en-US" b="1" dirty="0"/>
              <a:t>Feed clean, certified data into Excel and Power BI</a:t>
            </a:r>
            <a:br>
              <a:rPr lang="en-US" dirty="0"/>
            </a:br>
            <a:r>
              <a:rPr lang="en-US" dirty="0"/>
              <a:t>With Dataflows, the clean data becomes a source you can pull into both Excel and Power BI — and you know everyone is pulling the same, consistent version. No more email attachments and no more “which file is the right one?”</a:t>
            </a:r>
          </a:p>
          <a:p>
            <a:r>
              <a:rPr lang="en-US" b="1" dirty="0"/>
              <a:t>Set the stage for reliable AI, automation, and reporting</a:t>
            </a:r>
            <a:br>
              <a:rPr lang="en-US" dirty="0"/>
            </a:br>
            <a:r>
              <a:rPr lang="en-US" dirty="0"/>
              <a:t>When your cleanup is automated and standardized, everything built on top of it becomes more reliable. Copilot works better. Office Scripts and Power Automate flows work better. And your reports stop breaking the night before the meeting. Clean data isn’t glamorous, but it’s the foundation of every good AI workflow.</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8</a:t>
            </a:fld>
            <a:endParaRPr lang="en-US"/>
          </a:p>
        </p:txBody>
      </p:sp>
    </p:spTree>
    <p:extLst>
      <p:ext uri="{BB962C8B-B14F-4D97-AF65-F5344CB8AC3E}">
        <p14:creationId xmlns:p14="http://schemas.microsoft.com/office/powerpoint/2010/main" val="2320719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stringfestanalytics.com/how-to-understand-the-modern-excel-ai-stack/" TargetMode="External"/><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2585323"/>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AI for Excel in a Week</a:t>
            </a:r>
          </a:p>
          <a:p>
            <a:r>
              <a:rPr lang="en-US" sz="5400" b="1" dirty="0">
                <a:solidFill>
                  <a:srgbClr val="CF3338"/>
                </a:solidFill>
                <a:latin typeface="Pragmatica" panose="020B0403040502020204" pitchFamily="34" charset="0"/>
              </a:rPr>
              <a:t>Day 1: Power BI and Dataverse – The Foundation Layer</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About me</a:t>
            </a:r>
          </a:p>
        </p:txBody>
      </p:sp>
      <p:pic>
        <p:nvPicPr>
          <p:cNvPr id="3" name="Picture 4" descr="Advancing into Analytics Cover Image">
            <a:extLst>
              <a:ext uri="{FF2B5EF4-FFF2-40B4-BE49-F238E27FC236}">
                <a16:creationId xmlns:a16="http://schemas.microsoft.com/office/drawing/2014/main" id="{588F684B-18EF-D76C-5F7B-15E4BAD606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77075" y="195640"/>
            <a:ext cx="3130385" cy="408866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Free photos of Cleveland">
            <a:extLst>
              <a:ext uri="{FF2B5EF4-FFF2-40B4-BE49-F238E27FC236}">
                <a16:creationId xmlns:a16="http://schemas.microsoft.com/office/drawing/2014/main" id="{CBA53EEE-E3E1-D99E-A4DC-1C4DD2E6CE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5692" y="2968810"/>
            <a:ext cx="5535359" cy="368447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10;&#10;Description automatically generated">
            <a:extLst>
              <a:ext uri="{FF2B5EF4-FFF2-40B4-BE49-F238E27FC236}">
                <a16:creationId xmlns:a16="http://schemas.microsoft.com/office/drawing/2014/main" id="{97E0F267-87DF-961E-1FAA-47FD4F27A5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83691" y="6002696"/>
            <a:ext cx="7448309" cy="5462681"/>
          </a:xfrm>
          <a:prstGeom prst="rect">
            <a:avLst/>
          </a:prstGeom>
        </p:spPr>
      </p:pic>
      <p:pic>
        <p:nvPicPr>
          <p:cNvPr id="1026" name="Picture 2" descr="Modern data analytics in Excel book cover">
            <a:extLst>
              <a:ext uri="{FF2B5EF4-FFF2-40B4-BE49-F238E27FC236}">
                <a16:creationId xmlns:a16="http://schemas.microsoft.com/office/drawing/2014/main" id="{874ADA5E-A7A7-1D02-C728-513187DE1E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21136" y="2210054"/>
            <a:ext cx="3437261" cy="450799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icrosoft Most Valuable Professional - Wikipedia">
            <a:extLst>
              <a:ext uri="{FF2B5EF4-FFF2-40B4-BE49-F238E27FC236}">
                <a16:creationId xmlns:a16="http://schemas.microsoft.com/office/drawing/2014/main" id="{36C71929-5967-B93D-05FE-E330D621C5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4642" y="7832951"/>
            <a:ext cx="5057775" cy="2028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901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Objectives for this course</a:t>
            </a:r>
          </a:p>
        </p:txBody>
      </p:sp>
      <p:sp>
        <p:nvSpPr>
          <p:cNvPr id="3" name="TextBox 2"/>
          <p:cNvSpPr txBox="1"/>
          <p:nvPr/>
        </p:nvSpPr>
        <p:spPr>
          <a:xfrm>
            <a:off x="685800" y="2628900"/>
            <a:ext cx="16230600" cy="674030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Connect Excel to Power BI and Dataverse for live, governed data</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Build repeatable cleaning workflows with Power Query and Dataflows</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Use Copilot, Python, and Agent Mode for analysis and forecasting</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Automate Excel tasks with Office Scripts and Power Automate</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Build and connect custom copilots in Copilot Studio for real workflows</a:t>
            </a:r>
          </a:p>
        </p:txBody>
      </p:sp>
      <p:pic>
        <p:nvPicPr>
          <p:cNvPr id="15" name="Picture 14" descr="A close up of a sign&#10;&#10;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8707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697A-2DDC-AD06-0D5F-524946CCFA3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E25D70B-1F78-7AF8-4771-7B64B436CB0F}"/>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Class logistics</a:t>
            </a:r>
          </a:p>
        </p:txBody>
      </p:sp>
      <p:sp>
        <p:nvSpPr>
          <p:cNvPr id="3" name="TextBox 2">
            <a:extLst>
              <a:ext uri="{FF2B5EF4-FFF2-40B4-BE49-F238E27FC236}">
                <a16:creationId xmlns:a16="http://schemas.microsoft.com/office/drawing/2014/main" id="{8AD5976A-E96C-DF78-2D1D-42CD64D3E69F}"/>
              </a:ext>
            </a:extLst>
          </p:cNvPr>
          <p:cNvSpPr txBox="1"/>
          <p:nvPr/>
        </p:nvSpPr>
        <p:spPr>
          <a:xfrm>
            <a:off x="520861" y="3191948"/>
            <a:ext cx="14393120" cy="424731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All meetings will be on Teams URL</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All recordings and messages will be sent to the email you used to register </a:t>
            </a:r>
          </a:p>
          <a:p>
            <a:pPr marL="1143000" lvl="1"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Email </a:t>
            </a:r>
            <a:r>
              <a:rPr lang="en-US" sz="5400">
                <a:solidFill>
                  <a:srgbClr val="707070"/>
                </a:solidFill>
                <a:latin typeface="Pragmatica" panose="020B0403040502020204" pitchFamily="34" charset="0"/>
              </a:rPr>
              <a:t>me with </a:t>
            </a:r>
            <a:r>
              <a:rPr lang="en-US" sz="5400" dirty="0">
                <a:solidFill>
                  <a:srgbClr val="707070"/>
                </a:solidFill>
                <a:latin typeface="Pragmatica" panose="020B0403040502020204" pitchFamily="34" charset="0"/>
              </a:rPr>
              <a:t>any questions: </a:t>
            </a:r>
            <a:r>
              <a:rPr lang="en-US" sz="5400" b="1" dirty="0">
                <a:solidFill>
                  <a:srgbClr val="707070"/>
                </a:solidFill>
                <a:latin typeface="Pragmatica" panose="020B0403040502020204" pitchFamily="34" charset="0"/>
              </a:rPr>
              <a:t>george@stringfestanalytics.com </a:t>
            </a:r>
          </a:p>
        </p:txBody>
      </p:sp>
      <p:pic>
        <p:nvPicPr>
          <p:cNvPr id="15" name="Picture 14" descr="A close up of a sign&#10;&#10;Description automatically generated">
            <a:extLst>
              <a:ext uri="{FF2B5EF4-FFF2-40B4-BE49-F238E27FC236}">
                <a16:creationId xmlns:a16="http://schemas.microsoft.com/office/drawing/2014/main" id="{56BC9DC3-5856-1F48-F0BE-E6FB58953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740785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ACC5-4B11-2B34-2998-BB1C4FC9CC6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DA2185A-0457-8E44-DEEB-D9AF5A6DD844}"/>
              </a:ext>
            </a:extLst>
          </p:cNvPr>
          <p:cNvSpPr txBox="1"/>
          <p:nvPr/>
        </p:nvSpPr>
        <p:spPr>
          <a:xfrm>
            <a:off x="520861" y="170082"/>
            <a:ext cx="6794339" cy="3785652"/>
          </a:xfrm>
          <a:prstGeom prst="rect">
            <a:avLst/>
          </a:prstGeom>
          <a:noFill/>
        </p:spPr>
        <p:txBody>
          <a:bodyPr wrap="square" rtlCol="0">
            <a:spAutoFit/>
          </a:bodyPr>
          <a:lstStyle/>
          <a:p>
            <a:r>
              <a:rPr lang="en-US" sz="8000" dirty="0">
                <a:latin typeface="Aliens &amp; cows" panose="00000500000000000000" pitchFamily="2" charset="0"/>
              </a:rPr>
              <a:t>Welcome to the modern Excel AI stack</a:t>
            </a:r>
          </a:p>
        </p:txBody>
      </p:sp>
      <p:pic>
        <p:nvPicPr>
          <p:cNvPr id="15" name="Picture 14" descr="A close up of a sign&#10;&#10;Description automatically generated">
            <a:extLst>
              <a:ext uri="{FF2B5EF4-FFF2-40B4-BE49-F238E27FC236}">
                <a16:creationId xmlns:a16="http://schemas.microsoft.com/office/drawing/2014/main" id="{B40CB128-54BB-AAD9-5F61-2143EA93C3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59AB6FFB-7FD0-7057-BC27-8C4B01CE34D2}"/>
              </a:ext>
            </a:extLst>
          </p:cNvPr>
          <p:cNvSpPr txBox="1"/>
          <p:nvPr/>
        </p:nvSpPr>
        <p:spPr>
          <a:xfrm>
            <a:off x="228600" y="8267700"/>
            <a:ext cx="6400800" cy="1569660"/>
          </a:xfrm>
          <a:prstGeom prst="rect">
            <a:avLst/>
          </a:prstGeom>
          <a:noFill/>
        </p:spPr>
        <p:txBody>
          <a:bodyPr wrap="square">
            <a:spAutoFit/>
          </a:bodyPr>
          <a:lstStyle/>
          <a:p>
            <a:r>
              <a:rPr lang="en-US" sz="3200" dirty="0">
                <a:hlinkClick r:id="rId3"/>
              </a:rPr>
              <a:t>https://stringfestanalytics.com/how-to-understand-the-modern-excel-ai-stack/</a:t>
            </a:r>
            <a:r>
              <a:rPr lang="en-US" sz="3200" dirty="0"/>
              <a:t> </a:t>
            </a:r>
          </a:p>
        </p:txBody>
      </p:sp>
      <p:pic>
        <p:nvPicPr>
          <p:cNvPr id="5" name="Picture 4">
            <a:extLst>
              <a:ext uri="{FF2B5EF4-FFF2-40B4-BE49-F238E27FC236}">
                <a16:creationId xmlns:a16="http://schemas.microsoft.com/office/drawing/2014/main" id="{B9D87183-BF8B-3C89-D59E-109566F38D46}"/>
              </a:ext>
            </a:extLst>
          </p:cNvPr>
          <p:cNvPicPr>
            <a:picLocks noChangeAspect="1"/>
          </p:cNvPicPr>
          <p:nvPr/>
        </p:nvPicPr>
        <p:blipFill>
          <a:blip r:embed="rId4"/>
          <a:stretch>
            <a:fillRect/>
          </a:stretch>
        </p:blipFill>
        <p:spPr>
          <a:xfrm>
            <a:off x="8001000" y="0"/>
            <a:ext cx="10287000" cy="10287000"/>
          </a:xfrm>
          <a:prstGeom prst="rect">
            <a:avLst/>
          </a:prstGeom>
        </p:spPr>
      </p:pic>
    </p:spTree>
    <p:extLst>
      <p:ext uri="{BB962C8B-B14F-4D97-AF65-F5344CB8AC3E}">
        <p14:creationId xmlns:p14="http://schemas.microsoft.com/office/powerpoint/2010/main" val="2791422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6929974"/>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to Excel and back</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Excel data model to Power BI semantic model</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Power BI back to Excel</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(tomorrow) Excel to Dataverse</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(instructor demo) Dataverse to Excel </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What’s the takeaway for AI?</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Workbook: </a:t>
            </a:r>
            <a:r>
              <a:rPr lang="en-US" sz="3600" dirty="0">
                <a:solidFill>
                  <a:srgbClr val="C00000"/>
                </a:solidFill>
                <a:latin typeface="Consolas" panose="020B0609020204030204" pitchFamily="49" charset="0"/>
                <a:sym typeface="Consolas"/>
              </a:rPr>
              <a:t>superstore.xlsx</a:t>
            </a:r>
          </a:p>
        </p:txBody>
      </p:sp>
    </p:spTree>
    <p:extLst>
      <p:ext uri="{BB962C8B-B14F-4D97-AF65-F5344CB8AC3E}">
        <p14:creationId xmlns:p14="http://schemas.microsoft.com/office/powerpoint/2010/main" val="3871531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E3AC-4FA3-83DA-F79F-26551AD8550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FF83F61-9347-B3FC-96FC-70DF3E10AC66}"/>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So what for AI?</a:t>
            </a:r>
          </a:p>
        </p:txBody>
      </p:sp>
      <p:sp>
        <p:nvSpPr>
          <p:cNvPr id="3" name="TextBox 2">
            <a:extLst>
              <a:ext uri="{FF2B5EF4-FFF2-40B4-BE49-F238E27FC236}">
                <a16:creationId xmlns:a16="http://schemas.microsoft.com/office/drawing/2014/main" id="{7A23AEB3-4E11-C3D4-E894-27B00448C33C}"/>
              </a:ext>
            </a:extLst>
          </p:cNvPr>
          <p:cNvSpPr txBox="1"/>
          <p:nvPr/>
        </p:nvSpPr>
        <p:spPr>
          <a:xfrm>
            <a:off x="520861" y="2095500"/>
            <a:ext cx="14393120" cy="757130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AI depends on clean, governed, trusted data</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Cloud connected Excel gives Copilot real context and structure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Semantic models teach AI the meaning of your data</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Dataverse provides consistent tables and relationships AI can use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Better data foundations mean better prompts, better answers, fewer errors</a:t>
            </a:r>
          </a:p>
        </p:txBody>
      </p:sp>
      <p:pic>
        <p:nvPicPr>
          <p:cNvPr id="15" name="Picture 14" descr="A close up of a sign&#10;&#10;Description automatically generated">
            <a:extLst>
              <a:ext uri="{FF2B5EF4-FFF2-40B4-BE49-F238E27FC236}">
                <a16:creationId xmlns:a16="http://schemas.microsoft.com/office/drawing/2014/main" id="{96DC29E9-117A-CF3F-ECBD-08964AD5B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43337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78ECD-3650-0D5D-E084-2ADF9077632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F29A83-0331-0E10-824A-4833E4760B19}"/>
              </a:ext>
            </a:extLst>
          </p:cNvPr>
          <p:cNvSpPr txBox="1"/>
          <p:nvPr/>
        </p:nvSpPr>
        <p:spPr>
          <a:xfrm>
            <a:off x="520861" y="170082"/>
            <a:ext cx="14642939" cy="1015663"/>
          </a:xfrm>
          <a:prstGeom prst="rect">
            <a:avLst/>
          </a:prstGeom>
          <a:noFill/>
        </p:spPr>
        <p:txBody>
          <a:bodyPr wrap="square" rtlCol="0">
            <a:spAutoFit/>
          </a:bodyPr>
          <a:lstStyle/>
          <a:p>
            <a:r>
              <a:rPr lang="en-US" sz="6000" dirty="0">
                <a:latin typeface="Aliens &amp; cows" panose="00000500000000000000" pitchFamily="2" charset="0"/>
              </a:rPr>
              <a:t>Day 2 preview: Data cleaning the modern way</a:t>
            </a:r>
          </a:p>
        </p:txBody>
      </p:sp>
      <p:sp>
        <p:nvSpPr>
          <p:cNvPr id="3" name="TextBox 2">
            <a:extLst>
              <a:ext uri="{FF2B5EF4-FFF2-40B4-BE49-F238E27FC236}">
                <a16:creationId xmlns:a16="http://schemas.microsoft.com/office/drawing/2014/main" id="{1F8BFEA8-EC1E-D186-8530-6533D3345701}"/>
              </a:ext>
            </a:extLst>
          </p:cNvPr>
          <p:cNvSpPr txBox="1"/>
          <p:nvPr/>
        </p:nvSpPr>
        <p:spPr>
          <a:xfrm>
            <a:off x="520861" y="2095500"/>
            <a:ext cx="14393120" cy="674030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Build repeatable cleaning and shaping steps with Power Query</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Publish transformations to the cloud as Dataflows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Feed clean, certified data into Excel and Power BI</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Set the stage for reliable AI, automation, and reporting</a:t>
            </a:r>
          </a:p>
        </p:txBody>
      </p:sp>
      <p:pic>
        <p:nvPicPr>
          <p:cNvPr id="15" name="Picture 14" descr="A close up of a sign&#10;&#10;Description automatically generated">
            <a:extLst>
              <a:ext uri="{FF2B5EF4-FFF2-40B4-BE49-F238E27FC236}">
                <a16:creationId xmlns:a16="http://schemas.microsoft.com/office/drawing/2014/main" id="{49376407-AE9F-CCBA-4232-9DA21ADE6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946292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3950</TotalTime>
  <Words>944</Words>
  <Application>Microsoft Office PowerPoint</Application>
  <PresentationFormat>Custom</PresentationFormat>
  <Paragraphs>50</Paragraphs>
  <Slides>10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Consolas</vt:lpstr>
      <vt:lpstr>Normafixed Tryout</vt:lpstr>
      <vt:lpstr>Pragmatica</vt:lpstr>
      <vt:lpstr>Calibri</vt:lpstr>
      <vt:lpstr>Aliens &amp; cows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237</cp:revision>
  <dcterms:created xsi:type="dcterms:W3CDTF">2006-08-16T00:00:00Z</dcterms:created>
  <dcterms:modified xsi:type="dcterms:W3CDTF">2025-12-07T21:23:23Z</dcterms:modified>
  <dc:identifier>DADurESpNu8</dc:identifier>
</cp:coreProperties>
</file>