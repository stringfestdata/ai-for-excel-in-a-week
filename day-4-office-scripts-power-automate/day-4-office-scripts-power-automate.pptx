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455" r:id="rId3"/>
    <p:sldId id="474" r:id="rId4"/>
    <p:sldId id="471" r:id="rId5"/>
    <p:sldId id="475" r:id="rId6"/>
    <p:sldId id="476" r:id="rId7"/>
    <p:sldId id="472" r:id="rId8"/>
    <p:sldId id="473" r:id="rId9"/>
    <p:sldId id="415" r:id="rId10"/>
    <p:sldId id="470" r:id="rId11"/>
  </p:sldIdLst>
  <p:sldSz cx="18288000" cy="10287000"/>
  <p:notesSz cx="6858000" cy="9144000"/>
  <p:embeddedFontLst>
    <p:embeddedFont>
      <p:font typeface="Consolas" panose="020B0609020204030204" pitchFamily="49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7684158-E8C8-9BE0-21EB-718D906F94A5}" name="George Mount" initials="GM" userId="S::george@stringfestanalytics.com::22d0b802-afc6-4b8f-ba57-7a855d96927f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orge Mount" initials="GM" lastIdx="9" clrIdx="0">
    <p:extLst>
      <p:ext uri="{19B8F6BF-5375-455C-9EA6-DF929625EA0E}">
        <p15:presenceInfo xmlns:p15="http://schemas.microsoft.com/office/powerpoint/2012/main" userId="57d2ab2a84d54c8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3338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FE45DF-55D5-405D-A565-885B46CD6B1C}" v="18" dt="2025-10-20T17:24:06.950"/>
    <p1510:client id="{FF0EED0B-C5B4-4142-B053-6337C3D566F0}" v="5" dt="2025-10-20T16:58:00.7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92" autoAdjust="0"/>
    <p:restoredTop sz="78463" autoAdjust="0"/>
  </p:normalViewPr>
  <p:slideViewPr>
    <p:cSldViewPr>
      <p:cViewPr varScale="1">
        <p:scale>
          <a:sx n="33" d="100"/>
          <a:sy n="33" d="100"/>
        </p:scale>
        <p:origin x="779" y="38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40" d="100"/>
        <a:sy n="14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A98A70-FA8C-4354-959C-C70678AC9BCF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500C5-13F7-48FC-8160-C29AECF6C6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350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“intelligence layer” of the Modern Excel AI Stack.</a:t>
            </a:r>
            <a:br>
              <a:rPr lang="en-US" dirty="0"/>
            </a:br>
            <a:r>
              <a:rPr lang="en-US" dirty="0"/>
              <a:t>Copilot helps you write formulas, build charts, and surface insights.</a:t>
            </a:r>
            <a:br>
              <a:rPr lang="en-US" dirty="0"/>
            </a:br>
            <a:r>
              <a:rPr lang="en-US" dirty="0"/>
              <a:t>Python gives you real analytical power—modeling, forecasting, simulations, all inside Excel.</a:t>
            </a:r>
            <a:br>
              <a:rPr lang="en-US" dirty="0"/>
            </a:br>
            <a:r>
              <a:rPr lang="en-US" dirty="0"/>
              <a:t>Agent Mode ties steps together so you can move from “one-off tasks” to actual workflows.</a:t>
            </a:r>
          </a:p>
          <a:p>
            <a:r>
              <a:rPr lang="en-US" dirty="0"/>
              <a:t>But all of that power still depends on one thing: </a:t>
            </a:r>
            <a:r>
              <a:rPr lang="en-US" b="1" dirty="0"/>
              <a:t>data moving cleanly in and out of Excel.</a:t>
            </a:r>
            <a:br>
              <a:rPr lang="en-US" dirty="0"/>
            </a:br>
            <a:r>
              <a:rPr lang="en-US" dirty="0"/>
              <a:t>If you can’t get data in, shape it, govern it, and connect it to the rest of your systems, the intelligence layer can’t do its job.</a:t>
            </a:r>
          </a:p>
          <a:p>
            <a:r>
              <a:rPr lang="en-US" dirty="0"/>
              <a:t>That’s the pivot we’re about to make next—</a:t>
            </a:r>
            <a:r>
              <a:rPr lang="en-US" b="1" dirty="0"/>
              <a:t>how to wire Excel into a real, working data workflow</a:t>
            </a:r>
            <a:r>
              <a:rPr lang="en-US" dirty="0"/>
              <a:t> so AI becomes reliable, not magical thinking.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5530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945E6-CE7E-2487-A482-590748D55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D565A5-C4C5-B4A3-E708-957B84B003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5AD896-08FE-5715-6C86-75CB24BC7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C0BFCF-D905-022B-788E-7C8BB191D3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432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D0BB0-C27F-4394-84BC-879603FE7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D3BEAE-D2CD-A88A-3703-056E92BB0B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1D8528-51B2-8AAF-A9AB-FE9AD8BC60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83C92-7067-3C07-DF64-C45CF1BBC3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544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is great at generating insights, patterns, and logic — but insights alone don’t change the business.</a:t>
            </a:r>
            <a:br>
              <a:rPr lang="en-US" dirty="0"/>
            </a:br>
            <a:r>
              <a:rPr lang="en-US" dirty="0"/>
              <a:t>That’s where Office Scripts and Power Automate come in.</a:t>
            </a:r>
          </a:p>
          <a:p>
            <a:r>
              <a:rPr lang="en-US" dirty="0"/>
              <a:t>They turn Copilot-generated logic into </a:t>
            </a:r>
            <a:r>
              <a:rPr lang="en-US" b="1" dirty="0"/>
              <a:t>real, repeatable workflows</a:t>
            </a:r>
            <a:r>
              <a:rPr lang="en-US" dirty="0"/>
              <a:t>: scheduled refreshes, cleanups, notifications, file handling, all the boring-but-essential execution work.</a:t>
            </a:r>
          </a:p>
          <a:p>
            <a:r>
              <a:rPr lang="en-US" dirty="0"/>
              <a:t>This is where Copilot hands things off so the work actually </a:t>
            </a:r>
            <a:r>
              <a:rPr lang="en-US" i="1" dirty="0"/>
              <a:t>happens</a:t>
            </a:r>
            <a:r>
              <a:rPr lang="en-US" dirty="0"/>
              <a:t> without you clicking around.</a:t>
            </a:r>
            <a:br>
              <a:rPr lang="en-US" dirty="0"/>
            </a:br>
            <a:r>
              <a:rPr lang="en-US" dirty="0"/>
              <a:t>Scripts handle the Excel steps. Flows run them on a schedule, move files, push results to Teams, Outlook, SharePoint, Dataverse — whatever the process needs.</a:t>
            </a:r>
          </a:p>
          <a:p>
            <a:r>
              <a:rPr lang="en-US" dirty="0"/>
              <a:t>Together, they form the </a:t>
            </a:r>
            <a:r>
              <a:rPr lang="en-US" b="1" dirty="0"/>
              <a:t>execution layer</a:t>
            </a:r>
            <a:r>
              <a:rPr lang="en-US" dirty="0"/>
              <a:t> of the Modern Excel AI Stack: the part that carries your insights out of Excel and into the real world.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2173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everything comes together — the orchestration layer.</a:t>
            </a:r>
          </a:p>
          <a:p>
            <a:r>
              <a:rPr lang="en-US" dirty="0"/>
              <a:t>You’re not just </a:t>
            </a:r>
            <a:r>
              <a:rPr lang="en-US" i="1" dirty="0"/>
              <a:t>using</a:t>
            </a:r>
            <a:r>
              <a:rPr lang="en-US" dirty="0"/>
              <a:t> Copilot anymore. You’re </a:t>
            </a:r>
            <a:r>
              <a:rPr lang="en-US" b="1" dirty="0"/>
              <a:t>building your own</a:t>
            </a:r>
            <a:r>
              <a:rPr lang="en-US" dirty="0"/>
              <a:t> for your team or department.</a:t>
            </a:r>
            <a:br>
              <a:rPr lang="en-US" dirty="0"/>
            </a:br>
            <a:r>
              <a:rPr lang="en-US" dirty="0"/>
              <a:t>You connect it to Excel, Power Automate, Teams, SharePoint, Dataverse — wherever your work actually lives.</a:t>
            </a:r>
          </a:p>
          <a:p>
            <a:r>
              <a:rPr lang="en-US" dirty="0"/>
              <a:t>All the Scripts and Flows you built earlier now turn into </a:t>
            </a:r>
            <a:r>
              <a:rPr lang="en-US" b="1" dirty="0"/>
              <a:t>actions your Copilot can call on demand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Instead of you running the workflow, the Copilot becomes the coordinator: pulling data, cleaning it, running analysis, sending updates, triggering processes.</a:t>
            </a:r>
          </a:p>
          <a:p>
            <a:r>
              <a:rPr lang="en-US" dirty="0"/>
              <a:t>This is where AI stops being a helper and starts becoming a system — coordinating your entire workflow end to end.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333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tringfestanalytics.com/how-to-understand-the-modern-excel-ai-stack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AI for Excel in a Week</a:t>
            </a:r>
          </a:p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Day 4: Office Scripts and Power Automate – The Execution Layer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6CCAA77C-4E76-640C-066C-F3E39EE1A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59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697A-2DDC-AD06-0D5F-524946CCF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E25D70B-1F78-7AF8-4771-7B64B436CB0F}"/>
              </a:ext>
            </a:extLst>
          </p:cNvPr>
          <p:cNvSpPr txBox="1"/>
          <p:nvPr/>
        </p:nvSpPr>
        <p:spPr>
          <a:xfrm>
            <a:off x="520861" y="170082"/>
            <a:ext cx="146429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Class logistics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5976A-E96C-DF78-2D1D-42CD64D3E69F}"/>
              </a:ext>
            </a:extLst>
          </p:cNvPr>
          <p:cNvSpPr txBox="1"/>
          <p:nvPr/>
        </p:nvSpPr>
        <p:spPr>
          <a:xfrm>
            <a:off x="520861" y="3191948"/>
            <a:ext cx="1439312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All recordings, files used and communication will be on Teams channel</a:t>
            </a:r>
          </a:p>
          <a:p>
            <a:pPr marL="1143000" lvl="1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Be sure to use your email used to sign up for the course!</a:t>
            </a:r>
          </a:p>
          <a:p>
            <a:pPr marL="1143000" lvl="1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Email me with any questions: </a:t>
            </a:r>
            <a:r>
              <a:rPr lang="en-US" sz="5400" b="1" dirty="0">
                <a:solidFill>
                  <a:srgbClr val="707070"/>
                </a:solidFill>
                <a:latin typeface="Pragmatica" panose="020B0403040502020204" pitchFamily="34" charset="0"/>
              </a:rPr>
              <a:t>george@stringfestanalytics.com 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56BC9DC3-5856-1F48-F0BE-E6FB58953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785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778E5-4EE9-9207-6FC7-3D28CF238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81603C7-76CD-A76B-F955-68F3329D8967}"/>
              </a:ext>
            </a:extLst>
          </p:cNvPr>
          <p:cNvSpPr txBox="1"/>
          <p:nvPr/>
        </p:nvSpPr>
        <p:spPr>
          <a:xfrm>
            <a:off x="520861" y="170082"/>
            <a:ext cx="146429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Recap of Day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84214C-EACA-355D-FAEB-44DBEAE3040B}"/>
              </a:ext>
            </a:extLst>
          </p:cNvPr>
          <p:cNvSpPr txBox="1"/>
          <p:nvPr/>
        </p:nvSpPr>
        <p:spPr>
          <a:xfrm>
            <a:off x="520861" y="2095500"/>
            <a:ext cx="1439312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Copilot for formulas, charts, and insights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Python for analysis and forecasting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Agent Mode for multi step tasks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Excel is now an intelligent workspace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But so what: how do you get data in, get results out, and connect it all?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6959BD9D-5738-BA78-737D-3115164D42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6880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6ACC5-4B11-2B34-2998-BB1C4FC9C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EDA2185A-0457-8E44-DEEB-D9AF5A6DD844}"/>
              </a:ext>
            </a:extLst>
          </p:cNvPr>
          <p:cNvSpPr txBox="1"/>
          <p:nvPr/>
        </p:nvSpPr>
        <p:spPr>
          <a:xfrm>
            <a:off x="520861" y="170082"/>
            <a:ext cx="679433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>
                <a:latin typeface="Aliens &amp; cows" panose="00000500000000000000" pitchFamily="2" charset="0"/>
              </a:rPr>
              <a:t>Welcome to the modern Excel AI stack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B40CB128-54BB-AAD9-5F61-2143EA93C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9AB6FFB-7FD0-7057-BC27-8C4B01CE34D2}"/>
              </a:ext>
            </a:extLst>
          </p:cNvPr>
          <p:cNvSpPr txBox="1"/>
          <p:nvPr/>
        </p:nvSpPr>
        <p:spPr>
          <a:xfrm>
            <a:off x="228600" y="8267700"/>
            <a:ext cx="64008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3"/>
              </a:rPr>
              <a:t>https://stringfestanalytics.com/how-to-understand-the-modern-excel-ai-stack/</a:t>
            </a:r>
            <a:r>
              <a:rPr lang="en-US" sz="32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D87183-BF8B-3C89-D59E-109566F38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0"/>
            <a:ext cx="10287000" cy="10287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65A1F1-433D-842C-ED33-95F0AF974DBB}"/>
              </a:ext>
            </a:extLst>
          </p:cNvPr>
          <p:cNvSpPr/>
          <p:nvPr/>
        </p:nvSpPr>
        <p:spPr>
          <a:xfrm>
            <a:off x="8839200" y="3467100"/>
            <a:ext cx="8610600" cy="1524000"/>
          </a:xfrm>
          <a:prstGeom prst="rect">
            <a:avLst/>
          </a:prstGeom>
          <a:noFill/>
          <a:ln w="76200">
            <a:solidFill>
              <a:srgbClr val="CF33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4227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5543C-FC2F-706C-0319-AF2E02C17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0E9BB0-DF62-7CD8-AD9E-9B07D47A3EA3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5EAA4D7-8279-B257-6D3E-F96D3198579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B1D248-3DA4-EF63-972E-3DC8117D97E9}"/>
              </a:ext>
            </a:extLst>
          </p:cNvPr>
          <p:cNvSpPr txBox="1"/>
          <p:nvPr/>
        </p:nvSpPr>
        <p:spPr>
          <a:xfrm>
            <a:off x="260431" y="329879"/>
            <a:ext cx="8906720" cy="49786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Office Scripts + Power Automate, part 1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endParaRPr lang="en-US" sz="4200" dirty="0">
              <a:solidFill>
                <a:srgbClr val="CF3338"/>
              </a:solidFill>
              <a:latin typeface="Pragmatica" panose="020B0403040502020204" pitchFamily="34" charset="0"/>
              <a:sym typeface="Consolas"/>
            </a:endParaRP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Run a TOC updater script on schedule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Files: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power-automate-office-scripts.xlsx</a:t>
            </a: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,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add-toc.txt</a:t>
            </a:r>
          </a:p>
        </p:txBody>
      </p:sp>
    </p:spTree>
    <p:extLst>
      <p:ext uri="{BB962C8B-B14F-4D97-AF65-F5344CB8AC3E}">
        <p14:creationId xmlns:p14="http://schemas.microsoft.com/office/powerpoint/2010/main" val="2311970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F59BA-0C2F-2749-8CB4-7E6DE8743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454C4F1-8816-5B7C-5A36-487DF1D2DC2B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FD33BFB-92A5-B8BE-BE2A-90100EC88BE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60F8A7-E120-24F7-0163-56AAE5565745}"/>
              </a:ext>
            </a:extLst>
          </p:cNvPr>
          <p:cNvSpPr txBox="1"/>
          <p:nvPr/>
        </p:nvSpPr>
        <p:spPr>
          <a:xfrm>
            <a:off x="260431" y="329879"/>
            <a:ext cx="8906720" cy="5756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Office Scripts + Power Automate, part 2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endParaRPr lang="en-US" sz="4200" dirty="0">
              <a:solidFill>
                <a:srgbClr val="CF3338"/>
              </a:solidFill>
              <a:latin typeface="Pragmatica" panose="020B0403040502020204" pitchFamily="34" charset="0"/>
              <a:sym typeface="Consolas"/>
            </a:endParaRP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How can we apply the same script to multiple workbooks? 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conditional logic to validate filetype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Folder: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multiple-workbooks</a:t>
            </a:r>
          </a:p>
        </p:txBody>
      </p:sp>
    </p:spTree>
    <p:extLst>
      <p:ext uri="{BB962C8B-B14F-4D97-AF65-F5344CB8AC3E}">
        <p14:creationId xmlns:p14="http://schemas.microsoft.com/office/powerpoint/2010/main" val="42215226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7E3AC-4FA3-83DA-F79F-26551AD85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FF83F61-9347-B3FC-96FC-70DF3E10AC66}"/>
              </a:ext>
            </a:extLst>
          </p:cNvPr>
          <p:cNvSpPr txBox="1"/>
          <p:nvPr/>
        </p:nvSpPr>
        <p:spPr>
          <a:xfrm>
            <a:off x="520861" y="170082"/>
            <a:ext cx="146429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So what for AI?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23AEB3-4E11-C3D4-E894-27B00448C33C}"/>
              </a:ext>
            </a:extLst>
          </p:cNvPr>
          <p:cNvSpPr txBox="1"/>
          <p:nvPr/>
        </p:nvSpPr>
        <p:spPr>
          <a:xfrm>
            <a:off x="520861" y="2095500"/>
            <a:ext cx="14393120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AI gives insights: Scripts + Flows make them happen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Turns AI-generated logic into repeatable, scheduled workflows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Gives Copilot a place to hand off real work (refresh, clean, notify) 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Builds the “execution layer” of the Modern Excel AI Stack.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96DC29E9-117A-CF3F-ECBD-08964AD5B8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37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78ECD-3650-0D5D-E084-2ADF90776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2BF29A83-0331-0E10-824A-4833E4760B19}"/>
              </a:ext>
            </a:extLst>
          </p:cNvPr>
          <p:cNvSpPr txBox="1"/>
          <p:nvPr/>
        </p:nvSpPr>
        <p:spPr>
          <a:xfrm>
            <a:off x="520861" y="170082"/>
            <a:ext cx="1670033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latin typeface="Aliens &amp; cows" panose="00000500000000000000" pitchFamily="2" charset="0"/>
              </a:rPr>
              <a:t>Day 5 preview: The intelligence layer with Excel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8BFEA8-EC1E-D186-8530-6533D3345701}"/>
              </a:ext>
            </a:extLst>
          </p:cNvPr>
          <p:cNvSpPr txBox="1"/>
          <p:nvPr/>
        </p:nvSpPr>
        <p:spPr>
          <a:xfrm>
            <a:off x="520861" y="2095500"/>
            <a:ext cx="14393120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Build your own Copilot for your team or department.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Connect it to Excel, Power Automate, Teams, and your data.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See how your Scripts + Flows become actions your Copilot can call.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Learn the orchestration layer, where AI starts coordinating your whole workflow.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49376407-AE9F-CCBA-4232-9DA21ADE63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292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28" t="56371"/>
          <a:stretch/>
        </p:blipFill>
        <p:spPr>
          <a:xfrm>
            <a:off x="12204691" y="3316148"/>
            <a:ext cx="6083309" cy="697085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07744" y="-3724155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Questions?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6221-5316-4BCF-9FDA-BDB95FF4A7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204691" y="3317239"/>
            <a:ext cx="6083309" cy="69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607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1CF9C-FC7D-DEAE-2D87-10577021D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6CBD8B9-A494-A7F7-0F64-845B951EC9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C63943A-3FAF-22B6-228E-4092BA65AC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DFCEBB5-9C7D-6182-700C-0428AD2DDE67}"/>
              </a:ext>
            </a:extLst>
          </p:cNvPr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THANK YOU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16E5F1F1-B220-BEC5-B5EA-499D494291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344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3911</TotalTime>
  <Words>711</Words>
  <Application>Microsoft Office PowerPoint</Application>
  <PresentationFormat>Custom</PresentationFormat>
  <Paragraphs>57</Paragraphs>
  <Slides>10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Consolas</vt:lpstr>
      <vt:lpstr>Aliens &amp; cows</vt:lpstr>
      <vt:lpstr>Pragmatica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excel-statistics-for-business-analytics</dc:title>
  <dc:creator>User</dc:creator>
  <cp:lastModifiedBy>George Mount</cp:lastModifiedBy>
  <cp:revision>238</cp:revision>
  <dcterms:created xsi:type="dcterms:W3CDTF">2006-08-16T00:00:00Z</dcterms:created>
  <dcterms:modified xsi:type="dcterms:W3CDTF">2025-12-01T18:46:55Z</dcterms:modified>
  <dc:identifier>DADurESpNu8</dc:identifier>
</cp:coreProperties>
</file>